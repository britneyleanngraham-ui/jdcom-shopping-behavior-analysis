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57" r:id="rId3"/>
    <p:sldId id="260" r:id="rId4"/>
    <p:sldId id="261" r:id="rId5"/>
    <p:sldId id="262" r:id="rId6"/>
    <p:sldId id="264" r:id="rId7"/>
    <p:sldId id="263" r:id="rId8"/>
    <p:sldId id="265" r:id="rId9"/>
    <p:sldId id="266" r:id="rId10"/>
    <p:sldId id="267" r:id="rId11"/>
    <p:sldId id="268" r:id="rId12"/>
    <p:sldId id="269" r:id="rId13"/>
    <p:sldId id="270" r:id="rId14"/>
    <p:sldId id="27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554"/>
    <p:restoredTop sz="94643"/>
  </p:normalViewPr>
  <p:slideViewPr>
    <p:cSldViewPr snapToGrid="0">
      <p:cViewPr>
        <p:scale>
          <a:sx n="55" d="100"/>
          <a:sy n="55" d="100"/>
        </p:scale>
        <p:origin x="1344" y="1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49159B-682E-CD40-9876-D3DEBE56E646}" type="datetimeFigureOut">
              <a:rPr lang="en-US" smtClean="0"/>
              <a:t>9/7/26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849708-B853-904C-A316-8441C0BAB7C0}" type="slidenum">
              <a:rPr lang="en-US" smtClean="0"/>
              <a:t>‹#›</a:t>
            </a:fld>
            <a:endParaRPr lang="en-US"/>
          </a:p>
        </p:txBody>
      </p:sp>
    </p:spTree>
    <p:extLst>
      <p:ext uri="{BB962C8B-B14F-4D97-AF65-F5344CB8AC3E}">
        <p14:creationId xmlns:p14="http://schemas.microsoft.com/office/powerpoint/2010/main" val="2166929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Hello, and thank you for taking the time to review my analysis.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project, From Search to Sale, examines search and shopping behavior using a public http://</a:t>
            </a:r>
            <a:r>
              <a:rPr lang="en-US" sz="1200" kern="1200" dirty="0" err="1">
                <a:solidFill>
                  <a:schemeClr val="tx1"/>
                </a:solidFill>
                <a:effectLst/>
                <a:latin typeface="+mn-lt"/>
                <a:ea typeface="+mn-ea"/>
                <a:cs typeface="+mn-cs"/>
              </a:rPr>
              <a:t>JD.com</a:t>
            </a:r>
            <a:r>
              <a:rPr lang="en-US" sz="1200" kern="1200" dirty="0">
                <a:solidFill>
                  <a:schemeClr val="tx1"/>
                </a:solidFill>
                <a:effectLst/>
                <a:latin typeface="+mn-lt"/>
                <a:ea typeface="+mn-ea"/>
                <a:cs typeface="+mn-cs"/>
              </a:rPr>
              <a:t> dataset.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My objective was to determine how recorded engagement and purchase activity vary across categories, brands, shops, products, and search queries, and then translate those patterns into useful business recommendations.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completed the project using Python for data preparation and exploratory analysis, PostgreSQL and SQL for structured analysis and validation, and Tableau for visualization and stakeholder reporting.</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 important theme throughout this project is distinguishing what the data actually demonstrates from what would require additional data or testing</a:t>
            </a:r>
          </a:p>
          <a:p>
            <a:endParaRPr lang="en-US" dirty="0"/>
          </a:p>
        </p:txBody>
      </p:sp>
      <p:sp>
        <p:nvSpPr>
          <p:cNvPr id="4" name="Slide Number Placeholder 3"/>
          <p:cNvSpPr>
            <a:spLocks noGrp="1"/>
          </p:cNvSpPr>
          <p:nvPr>
            <p:ph type="sldNum" sz="quarter" idx="5"/>
          </p:nvPr>
        </p:nvSpPr>
        <p:spPr/>
        <p:txBody>
          <a:bodyPr/>
          <a:lstStyle/>
          <a:p>
            <a:fld id="{ED849708-B853-904C-A316-8441C0BAB7C0}" type="slidenum">
              <a:rPr lang="en-US" smtClean="0"/>
              <a:t>1</a:t>
            </a:fld>
            <a:endParaRPr lang="en-US"/>
          </a:p>
        </p:txBody>
      </p:sp>
    </p:spTree>
    <p:extLst>
      <p:ext uri="{BB962C8B-B14F-4D97-AF65-F5344CB8AC3E}">
        <p14:creationId xmlns:p14="http://schemas.microsoft.com/office/powerpoint/2010/main" val="3780332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 approached the project from a business decision-making perspective rather than simply asking what statistics I could calculate.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central question was: where do we see substantial recorded shopping engagement without comparable purchase activity?</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analyzed the data across several dimensions, including categories, brands, shops, products, and search queries.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purpose wasn’t to claim that a particular factor causes customers not to purchase. Instead, I wanted to identify patterns that could help stakeholders decide where deeper investigation would be most valuable.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That creates a progression from descriptive analysis, to prioritization, to investigation, and ultimately to testing potential improvements.</a:t>
            </a:r>
          </a:p>
          <a:p>
            <a:endParaRPr lang="en-US" dirty="0"/>
          </a:p>
        </p:txBody>
      </p:sp>
      <p:sp>
        <p:nvSpPr>
          <p:cNvPr id="4" name="Slide Number Placeholder 3"/>
          <p:cNvSpPr>
            <a:spLocks noGrp="1"/>
          </p:cNvSpPr>
          <p:nvPr>
            <p:ph type="sldNum" sz="quarter" idx="5"/>
          </p:nvPr>
        </p:nvSpPr>
        <p:spPr/>
        <p:txBody>
          <a:bodyPr/>
          <a:lstStyle/>
          <a:p>
            <a:fld id="{ED849708-B853-904C-A316-8441C0BAB7C0}" type="slidenum">
              <a:rPr lang="en-US" smtClean="0"/>
              <a:t>2</a:t>
            </a:fld>
            <a:endParaRPr lang="en-US"/>
          </a:p>
        </p:txBody>
      </p:sp>
    </p:spTree>
    <p:extLst>
      <p:ext uri="{BB962C8B-B14F-4D97-AF65-F5344CB8AC3E}">
        <p14:creationId xmlns:p14="http://schemas.microsoft.com/office/powerpoint/2010/main" val="1231350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final analytical dataset contains 320,132 recorded positive shopping interactions.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Of those, 223,909 are clicks, 75,407 are add-to-cart interactions, and 20,816 are purchases.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dataset also covers more than 110,000 unique query records, approximately 238,000 products, nearly 48,000 brands, and 4,777 categories.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One important scope consideration is that this dataset contains positive interaction labels. Non-interaction observations were excluded from the processed analytical dataset.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That affects how the metrics should be interpreted, particularly Purchase Share, which I’ll explain next.</a:t>
            </a:r>
          </a:p>
          <a:p>
            <a:endParaRPr lang="en-US" dirty="0"/>
          </a:p>
        </p:txBody>
      </p:sp>
      <p:sp>
        <p:nvSpPr>
          <p:cNvPr id="4" name="Slide Number Placeholder 3"/>
          <p:cNvSpPr>
            <a:spLocks noGrp="1"/>
          </p:cNvSpPr>
          <p:nvPr>
            <p:ph type="sldNum" sz="quarter" idx="5"/>
          </p:nvPr>
        </p:nvSpPr>
        <p:spPr/>
        <p:txBody>
          <a:bodyPr/>
          <a:lstStyle/>
          <a:p>
            <a:fld id="{ED849708-B853-904C-A316-8441C0BAB7C0}" type="slidenum">
              <a:rPr lang="en-US" smtClean="0"/>
              <a:t>3</a:t>
            </a:fld>
            <a:endParaRPr lang="en-US"/>
          </a:p>
        </p:txBody>
      </p:sp>
    </p:spTree>
    <p:extLst>
      <p:ext uri="{BB962C8B-B14F-4D97-AF65-F5344CB8AC3E}">
        <p14:creationId xmlns:p14="http://schemas.microsoft.com/office/powerpoint/2010/main" val="986243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of the most important decisions in this project was how to describe the primary metric accurately.</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Purchases represent 6.50% of all recorded positive interactions. I refer to this as Purchase Share.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intentionally do not call it a conversion rate.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traditional conversion rate would normally require a denominator such as impressions, visitors, or sessions. Those aren’t available here.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records also cannot be connected into individual customer journeys. Therefore, the clicks, cart additions, and purchases shouldn’t be interpreted as sequential funnel stages.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example, I cannot conclude from these numbers alone that a customer clicked, added something to their cart, and then abandoned the purchase.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Instead, Purchase Share provides a consistent descriptive benchmark for comparing segments within this dataset.</a:t>
            </a:r>
          </a:p>
          <a:p>
            <a:endParaRPr lang="en-US" dirty="0"/>
          </a:p>
        </p:txBody>
      </p:sp>
      <p:sp>
        <p:nvSpPr>
          <p:cNvPr id="4" name="Slide Number Placeholder 3"/>
          <p:cNvSpPr>
            <a:spLocks noGrp="1"/>
          </p:cNvSpPr>
          <p:nvPr>
            <p:ph type="sldNum" sz="quarter" idx="5"/>
          </p:nvPr>
        </p:nvSpPr>
        <p:spPr/>
        <p:txBody>
          <a:bodyPr/>
          <a:lstStyle/>
          <a:p>
            <a:fld id="{ED849708-B853-904C-A316-8441C0BAB7C0}" type="slidenum">
              <a:rPr lang="en-US" smtClean="0"/>
              <a:t>4</a:t>
            </a:fld>
            <a:endParaRPr lang="en-US"/>
          </a:p>
        </p:txBody>
      </p:sp>
    </p:spTree>
    <p:extLst>
      <p:ext uri="{BB962C8B-B14F-4D97-AF65-F5344CB8AC3E}">
        <p14:creationId xmlns:p14="http://schemas.microsoft.com/office/powerpoint/2010/main" val="1192402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Rather than simply ranking segments by Purchase Share, I combined purchase activity with interaction volume.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segment with an unusually high Purchase Share based on only a handful of interactions may not be particularly important from a business perspective.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Instead, I focused attention on segments with meaningful interaction volume but Purchase Share below the broader benchmark.</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These segments are particularly useful as diagnostic priorities because they’re already generating engagement.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However, it’s important not to describe these segments as losing customers or causing abandonment. The current data doesn’t establish that.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What it tells stakeholders is where further investigation could potentially produce useful insights.</a:t>
            </a:r>
          </a:p>
          <a:p>
            <a:endParaRPr lang="en-US" dirty="0"/>
          </a:p>
        </p:txBody>
      </p:sp>
      <p:sp>
        <p:nvSpPr>
          <p:cNvPr id="4" name="Slide Number Placeholder 3"/>
          <p:cNvSpPr>
            <a:spLocks noGrp="1"/>
          </p:cNvSpPr>
          <p:nvPr>
            <p:ph type="sldNum" sz="quarter" idx="5"/>
          </p:nvPr>
        </p:nvSpPr>
        <p:spPr/>
        <p:txBody>
          <a:bodyPr/>
          <a:lstStyle/>
          <a:p>
            <a:fld id="{ED849708-B853-904C-A316-8441C0BAB7C0}" type="slidenum">
              <a:rPr lang="en-US" smtClean="0"/>
              <a:t>5</a:t>
            </a:fld>
            <a:endParaRPr lang="en-US"/>
          </a:p>
        </p:txBody>
      </p:sp>
    </p:spTree>
    <p:extLst>
      <p:ext uri="{BB962C8B-B14F-4D97-AF65-F5344CB8AC3E}">
        <p14:creationId xmlns:p14="http://schemas.microsoft.com/office/powerpoint/2010/main" val="3350872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 also examined product and search-query performance to identify patterns closer to the product-discovery experience.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allows stakeholders to identify which queries and products generate substantial activity and compare their Purchase Share.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Search queries with high engagement but relatively low Purchase Share can become candidates for investigating search relevance, product assortment, pricing, availability, or how results are presented.</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There is an important limitation at the individual-product level. The dataset is highly sparse, with many products represented by very few records.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Because of that, I would avoid making major business decisions based on an individual product’s Purchase Share without sufficient interaction volume.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my analysis, I use minimum-volume thresholds when examining stronger product-level Purchase Share results to reduce the influence of extremely small samples.</a:t>
            </a:r>
          </a:p>
          <a:p>
            <a:endParaRPr lang="en-US" dirty="0"/>
          </a:p>
        </p:txBody>
      </p:sp>
      <p:sp>
        <p:nvSpPr>
          <p:cNvPr id="4" name="Slide Number Placeholder 3"/>
          <p:cNvSpPr>
            <a:spLocks noGrp="1"/>
          </p:cNvSpPr>
          <p:nvPr>
            <p:ph type="sldNum" sz="quarter" idx="5"/>
          </p:nvPr>
        </p:nvSpPr>
        <p:spPr/>
        <p:txBody>
          <a:bodyPr/>
          <a:lstStyle/>
          <a:p>
            <a:fld id="{ED849708-B853-904C-A316-8441C0BAB7C0}" type="slidenum">
              <a:rPr lang="en-US" smtClean="0"/>
              <a:t>6</a:t>
            </a:fld>
            <a:endParaRPr lang="en-US"/>
          </a:p>
        </p:txBody>
      </p:sp>
    </p:spTree>
    <p:extLst>
      <p:ext uri="{BB962C8B-B14F-4D97-AF65-F5344CB8AC3E}">
        <p14:creationId xmlns:p14="http://schemas.microsoft.com/office/powerpoint/2010/main" val="23431480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brand and shop analyses provide another way to identify both potential opportunities and stronger-performing benchmarks.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compared engagement volume, purchase volume, and Purchase Share rather than relying on a single metric.</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the shop analysis, I identified a data-quality consideration that required special handling.</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There were 1,776 records where the shop identifier was negative one, indicating an unidentified shop.</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retained those records in the overall dataset but excluded them specifically from shop-level performance comparisons.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That leaves 318,356 interactions associated with identified shops, including 20,751 purchases.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prevents an unknown shop category from distorting comparisons among identifiable shops while preserving the records for the overall analysis.</a:t>
            </a:r>
          </a:p>
          <a:p>
            <a:endParaRPr lang="en-US" dirty="0"/>
          </a:p>
        </p:txBody>
      </p:sp>
      <p:sp>
        <p:nvSpPr>
          <p:cNvPr id="4" name="Slide Number Placeholder 3"/>
          <p:cNvSpPr>
            <a:spLocks noGrp="1"/>
          </p:cNvSpPr>
          <p:nvPr>
            <p:ph type="sldNum" sz="quarter" idx="5"/>
          </p:nvPr>
        </p:nvSpPr>
        <p:spPr/>
        <p:txBody>
          <a:bodyPr/>
          <a:lstStyle/>
          <a:p>
            <a:fld id="{ED849708-B853-904C-A316-8441C0BAB7C0}" type="slidenum">
              <a:rPr lang="en-US" smtClean="0"/>
              <a:t>7</a:t>
            </a:fld>
            <a:endParaRPr lang="en-US"/>
          </a:p>
        </p:txBody>
      </p:sp>
    </p:spTree>
    <p:extLst>
      <p:ext uri="{BB962C8B-B14F-4D97-AF65-F5344CB8AC3E}">
        <p14:creationId xmlns:p14="http://schemas.microsoft.com/office/powerpoint/2010/main" val="2966568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Once priority segments have been identified, the next question is what stakeholders should investigate.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would begin with four areas.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is product information, including descriptions, specifications, imagery, reviews, and other trust signals.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Second is pricing and availability. Customers may engage with a product but encounter an unattractive price, insufficient promotion, or inventory limitations.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Third is search relevance. High query engagement paired with weaker purchase activity may warrant examining whether the results adequately reflect customer intent.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Finally, fulfillment and the purchase experience could be investigated, including shipping costs, delivery expectations, and checkout friction.</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These are intentionally framed as hypotheses. The existing dataset does not establish any of them as causes.</a:t>
            </a:r>
          </a:p>
          <a:p>
            <a:endParaRPr lang="en-US" dirty="0"/>
          </a:p>
        </p:txBody>
      </p:sp>
      <p:sp>
        <p:nvSpPr>
          <p:cNvPr id="4" name="Slide Number Placeholder 3"/>
          <p:cNvSpPr>
            <a:spLocks noGrp="1"/>
          </p:cNvSpPr>
          <p:nvPr>
            <p:ph type="sldNum" sz="quarter" idx="5"/>
          </p:nvPr>
        </p:nvSpPr>
        <p:spPr/>
        <p:txBody>
          <a:bodyPr/>
          <a:lstStyle/>
          <a:p>
            <a:fld id="{ED849708-B853-904C-A316-8441C0BAB7C0}" type="slidenum">
              <a:rPr lang="en-US" smtClean="0"/>
              <a:t>8</a:t>
            </a:fld>
            <a:endParaRPr lang="en-US"/>
          </a:p>
        </p:txBody>
      </p:sp>
    </p:spTree>
    <p:extLst>
      <p:ext uri="{BB962C8B-B14F-4D97-AF65-F5344CB8AC3E}">
        <p14:creationId xmlns:p14="http://schemas.microsoft.com/office/powerpoint/2010/main" val="894458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My recommendation is to turn these findings into a three-stage analytical process.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prioritize. Use interaction volume and Purchase Share together to select a manageable number of categories, brands, shops, or queries for further analysis.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Second, diagnose. Examine additional variables that aren’t present in the current dataset, including pricing, inventory, product information, search-result positioning, shipping, and customer-journey information.</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Stronger-performing comparable segments could also be used as internal benchmarks to identify meaningful differences.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Third, test. Once there is evidence supporting a particular hypothesis, implement targeted changes using controlled testing where possible.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approach prevents the organization from jumping directly from correlation or descriptive patterns to expensive business changes without first establishing stronger evidence.</a:t>
            </a:r>
          </a:p>
          <a:p>
            <a:endParaRPr lang="en-US" dirty="0"/>
          </a:p>
        </p:txBody>
      </p:sp>
      <p:sp>
        <p:nvSpPr>
          <p:cNvPr id="4" name="Slide Number Placeholder 3"/>
          <p:cNvSpPr>
            <a:spLocks noGrp="1"/>
          </p:cNvSpPr>
          <p:nvPr>
            <p:ph type="sldNum" sz="quarter" idx="5"/>
          </p:nvPr>
        </p:nvSpPr>
        <p:spPr/>
        <p:txBody>
          <a:bodyPr/>
          <a:lstStyle/>
          <a:p>
            <a:fld id="{ED849708-B853-904C-A316-8441C0BAB7C0}" type="slidenum">
              <a:rPr lang="en-US" smtClean="0"/>
              <a:t>9</a:t>
            </a:fld>
            <a:endParaRPr lang="en-US"/>
          </a:p>
        </p:txBody>
      </p:sp>
    </p:spTree>
    <p:extLst>
      <p:ext uri="{BB962C8B-B14F-4D97-AF65-F5344CB8AC3E}">
        <p14:creationId xmlns:p14="http://schemas.microsoft.com/office/powerpoint/2010/main" val="3969986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My recommendation is to turn these findings into a three-stage analytical process.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prioritize. Use interaction volume and Purchase Share together to select a manageable number of categories, brands, shops, or queries for further analysis.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Second, diagnose. Examine additional variables that aren’t present in the current dataset, including pricing, inventory, product information, search-result positioning, shipping, and customer-journey information.</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Stronger-performing comparable segments could also be used as internal benchmarks to identify meaningful differences.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Third, test. Once there is evidence supporting a particular hypothesis, implement targeted changes using controlled testing where possible.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approach prevents the organization from jumping directly from correlation or descriptive patterns to expensive business changes without first establishing stronger evidence.</a:t>
            </a:r>
          </a:p>
          <a:p>
            <a:r>
              <a:rPr lang="en-US" sz="1200" kern="1200" dirty="0">
                <a:solidFill>
                  <a:schemeClr val="tx1"/>
                </a:solidFill>
                <a:effectLst/>
                <a:latin typeface="+mn-lt"/>
                <a:ea typeface="+mn-ea"/>
                <a:cs typeface="+mn-cs"/>
              </a:rPr>
              <a:t>The current dataset is useful for identifying where interesting patterns exist, but several additional fields would substantially increase its business value.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Search impressions and result positions would allow actual search-performance measures.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Timestamps and privacy-protected session identifiers would allow interactions to be connected into journeys.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Linked cart, checkout, and order data would allow proper measurement of progression and abandonment.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Pricing, promotions, inventory, shipping, returns, and customer-feedback data would then help test explanations for the patterns.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distinction I would emphasize to stakeholders is simple: the current analysis tells us where to look. Additional data would help us understand why those patterns exist.</a:t>
            </a:r>
          </a:p>
          <a:p>
            <a:endParaRPr lang="en-US" dirty="0"/>
          </a:p>
        </p:txBody>
      </p:sp>
      <p:sp>
        <p:nvSpPr>
          <p:cNvPr id="4" name="Slide Number Placeholder 3"/>
          <p:cNvSpPr>
            <a:spLocks noGrp="1"/>
          </p:cNvSpPr>
          <p:nvPr>
            <p:ph type="sldNum" sz="quarter" idx="5"/>
          </p:nvPr>
        </p:nvSpPr>
        <p:spPr/>
        <p:txBody>
          <a:bodyPr/>
          <a:lstStyle/>
          <a:p>
            <a:fld id="{ED849708-B853-904C-A316-8441C0BAB7C0}" type="slidenum">
              <a:rPr lang="en-US" smtClean="0"/>
              <a:t>10</a:t>
            </a:fld>
            <a:endParaRPr lang="en-US"/>
          </a:p>
        </p:txBody>
      </p:sp>
    </p:spTree>
    <p:extLst>
      <p:ext uri="{BB962C8B-B14F-4D97-AF65-F5344CB8AC3E}">
        <p14:creationId xmlns:p14="http://schemas.microsoft.com/office/powerpoint/2010/main" val="10305464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These limitations are important because they define which decisions can reasonably be supported by the analysis.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project can support comparative performance analysis, identify patterns, prioritize areas for investigation, and generate hypotheses.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cannot establish traditional conversion rates because impressions and sessions aren’t available.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cannot establish customer abandonment because individual records aren’t linked into customer journeys.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also cannot establish causality, lost revenue, profitability, ROI, or seasonal effects.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consider these limitations part of the analytical result rather than simply weaknesses in the project. Clearly defining what the evidence can and cannot support helps prevent stakeholders from making decisions based on conclusions the data doesn’t actually demonstrate.</a:t>
            </a:r>
          </a:p>
          <a:p>
            <a:endParaRPr lang="en-US" dirty="0"/>
          </a:p>
        </p:txBody>
      </p:sp>
      <p:sp>
        <p:nvSpPr>
          <p:cNvPr id="4" name="Slide Number Placeholder 3"/>
          <p:cNvSpPr>
            <a:spLocks noGrp="1"/>
          </p:cNvSpPr>
          <p:nvPr>
            <p:ph type="sldNum" sz="quarter" idx="5"/>
          </p:nvPr>
        </p:nvSpPr>
        <p:spPr/>
        <p:txBody>
          <a:bodyPr/>
          <a:lstStyle/>
          <a:p>
            <a:fld id="{ED849708-B853-904C-A316-8441C0BAB7C0}" type="slidenum">
              <a:rPr lang="en-US" smtClean="0"/>
              <a:t>11</a:t>
            </a:fld>
            <a:endParaRPr lang="en-US"/>
          </a:p>
        </p:txBody>
      </p:sp>
    </p:spTree>
    <p:extLst>
      <p:ext uri="{BB962C8B-B14F-4D97-AF65-F5344CB8AC3E}">
        <p14:creationId xmlns:p14="http://schemas.microsoft.com/office/powerpoint/2010/main" val="3858402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central takeaway from this project isn’t simply that Purchase Share is 6.50%.</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greater business value comes from establishing a framework that allows stakeholders to compare that benchmark across categories, brands, shops, products, and search queries.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By combining engagement volume with Purchase Share, the analysis identifies areas that warrant deeper investigation without overstating what the available data proves.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My recommended next decision would be to select a small number of the highest-priority segments, obtain the additional behavioral and operational data needed to investigate them, and develop specific hypotheses for testing.</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That would move the organization from descriptive analysis toward evidence-based optimization.</a:t>
            </a:r>
          </a:p>
          <a:p>
            <a:endParaRPr lang="en-US" dirty="0"/>
          </a:p>
        </p:txBody>
      </p:sp>
      <p:sp>
        <p:nvSpPr>
          <p:cNvPr id="4" name="Slide Number Placeholder 3"/>
          <p:cNvSpPr>
            <a:spLocks noGrp="1"/>
          </p:cNvSpPr>
          <p:nvPr>
            <p:ph type="sldNum" sz="quarter" idx="5"/>
          </p:nvPr>
        </p:nvSpPr>
        <p:spPr/>
        <p:txBody>
          <a:bodyPr/>
          <a:lstStyle/>
          <a:p>
            <a:fld id="{ED849708-B853-904C-A316-8441C0BAB7C0}" type="slidenum">
              <a:rPr lang="en-US" smtClean="0"/>
              <a:t>12</a:t>
            </a:fld>
            <a:endParaRPr lang="en-US"/>
          </a:p>
        </p:txBody>
      </p:sp>
    </p:spTree>
    <p:extLst>
      <p:ext uri="{BB962C8B-B14F-4D97-AF65-F5344CB8AC3E}">
        <p14:creationId xmlns:p14="http://schemas.microsoft.com/office/powerpoint/2010/main" val="571244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anyone interested in the technical methodology, I used Python and Jupyter Notebook for cleaning, exploratory analysis, and validation.</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then loaded the cleaned dataset into PostgreSQL and built SQL views for category, brand, shop, product, and query performance.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independently validated the headline metrics in SQL, including the 320,132 total records and the interaction distribution.</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quality review also identified 16,575 exact duplicate rows.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did not automatically delete them because the dataset doesn’t provide timestamps or a unique event-level identifier that would allow me to distinguish accidental duplicates from legitimate repeated interactions.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Instead, I conducted a sensitivity analysis. Removing the exact duplicates changed Purchase Share only from approximately 6.50% to 6.63%, so the headline interpretation remained materially stable.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allowed me to preserve the original observations while transparently testing the impact of the duplicate assumption.</a:t>
            </a:r>
          </a:p>
          <a:p>
            <a:endParaRPr lang="en-US" dirty="0"/>
          </a:p>
        </p:txBody>
      </p:sp>
      <p:sp>
        <p:nvSpPr>
          <p:cNvPr id="4" name="Slide Number Placeholder 3"/>
          <p:cNvSpPr>
            <a:spLocks noGrp="1"/>
          </p:cNvSpPr>
          <p:nvPr>
            <p:ph type="sldNum" sz="quarter" idx="5"/>
          </p:nvPr>
        </p:nvSpPr>
        <p:spPr/>
        <p:txBody>
          <a:bodyPr/>
          <a:lstStyle/>
          <a:p>
            <a:fld id="{ED849708-B853-904C-A316-8441C0BAB7C0}" type="slidenum">
              <a:rPr lang="en-US" smtClean="0"/>
              <a:t>13</a:t>
            </a:fld>
            <a:endParaRPr lang="en-US"/>
          </a:p>
        </p:txBody>
      </p:sp>
    </p:spTree>
    <p:extLst>
      <p:ext uri="{BB962C8B-B14F-4D97-AF65-F5344CB8AC3E}">
        <p14:creationId xmlns:p14="http://schemas.microsoft.com/office/powerpoint/2010/main" val="21917899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74332-55E8-A364-CEB2-6C54DD79FD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DF8C4-C7FB-F113-3348-15754CFD5C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FA1ADE-9F92-3CF1-1625-2848E6B0A310}"/>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These are the primary definitions used consistently throughout the project.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most important is Purchase Share. It represents purchases divided by all recorded positive interactions.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Maintaining that terminology consistently across Python, SQL, Tableau, the report, and this presentation prevents the metric from being confused with a conventional conversion rate.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other metrics are primarily counts or distinct counts derived from the anonymized identifiers in the source dataset.</a:t>
            </a:r>
          </a:p>
          <a:p>
            <a:endParaRPr lang="en-US" dirty="0"/>
          </a:p>
        </p:txBody>
      </p:sp>
      <p:sp>
        <p:nvSpPr>
          <p:cNvPr id="4" name="Slide Number Placeholder 3">
            <a:extLst>
              <a:ext uri="{FF2B5EF4-FFF2-40B4-BE49-F238E27FC236}">
                <a16:creationId xmlns:a16="http://schemas.microsoft.com/office/drawing/2014/main" id="{2067D6A8-DFF9-9B3B-114D-07280A510606}"/>
              </a:ext>
            </a:extLst>
          </p:cNvPr>
          <p:cNvSpPr>
            <a:spLocks noGrp="1"/>
          </p:cNvSpPr>
          <p:nvPr>
            <p:ph type="sldNum" sz="quarter" idx="5"/>
          </p:nvPr>
        </p:nvSpPr>
        <p:spPr/>
        <p:txBody>
          <a:bodyPr/>
          <a:lstStyle/>
          <a:p>
            <a:fld id="{ED849708-B853-904C-A316-8441C0BAB7C0}" type="slidenum">
              <a:rPr lang="en-US" smtClean="0"/>
              <a:t>14</a:t>
            </a:fld>
            <a:endParaRPr lang="en-US"/>
          </a:p>
        </p:txBody>
      </p:sp>
    </p:spTree>
    <p:extLst>
      <p:ext uri="{BB962C8B-B14F-4D97-AF65-F5344CB8AC3E}">
        <p14:creationId xmlns:p14="http://schemas.microsoft.com/office/powerpoint/2010/main" val="3007474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dirty="0"/>
              <a:pPr/>
              <a:t>9/7/26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9/7/26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9/7/26</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48A87A34-81AB-432B-8DAE-1953F412C126}" type="datetimeFigureOut">
              <a:rPr lang="en-US" dirty="0"/>
              <a:t>9/7/26</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8A87A34-81AB-432B-8DAE-1953F412C126}" type="datetimeFigureOut">
              <a:rPr lang="en-US" dirty="0"/>
              <a:t>9/7/26</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9/7/26</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9/7/26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dirty="0"/>
              <a:pPr/>
              <a:t>9/7/26</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448C7-2E60-FECA-37ED-C09BC97EF685}"/>
              </a:ext>
            </a:extLst>
          </p:cNvPr>
          <p:cNvSpPr>
            <a:spLocks noGrp="1"/>
          </p:cNvSpPr>
          <p:nvPr>
            <p:ph type="ctrTitle"/>
          </p:nvPr>
        </p:nvSpPr>
        <p:spPr>
          <a:xfrm>
            <a:off x="1759236" y="1169234"/>
            <a:ext cx="8679915" cy="734517"/>
          </a:xfrm>
        </p:spPr>
        <p:txBody>
          <a:bodyPr>
            <a:normAutofit fontScale="90000"/>
          </a:bodyPr>
          <a:lstStyle/>
          <a:p>
            <a:r>
              <a:rPr lang="en-US" dirty="0"/>
              <a:t>From Search to Sale</a:t>
            </a:r>
          </a:p>
        </p:txBody>
      </p:sp>
      <p:sp>
        <p:nvSpPr>
          <p:cNvPr id="3" name="Subtitle 2">
            <a:extLst>
              <a:ext uri="{FF2B5EF4-FFF2-40B4-BE49-F238E27FC236}">
                <a16:creationId xmlns:a16="http://schemas.microsoft.com/office/drawing/2014/main" id="{8D6BBD42-C587-BA4D-3EBD-9B31983F27D8}"/>
              </a:ext>
            </a:extLst>
          </p:cNvPr>
          <p:cNvSpPr>
            <a:spLocks noGrp="1"/>
          </p:cNvSpPr>
          <p:nvPr>
            <p:ph type="subTitle" idx="1"/>
          </p:nvPr>
        </p:nvSpPr>
        <p:spPr>
          <a:xfrm>
            <a:off x="1759237" y="2083634"/>
            <a:ext cx="8673427" cy="3145220"/>
          </a:xfrm>
        </p:spPr>
        <p:txBody>
          <a:bodyPr/>
          <a:lstStyle/>
          <a:p>
            <a:r>
              <a:rPr lang="en-US" dirty="0"/>
              <a:t>Optimizing Customer Engagement and Product Discovery at </a:t>
            </a:r>
            <a:r>
              <a:rPr lang="en-US" dirty="0" err="1"/>
              <a:t>JD.com</a:t>
            </a:r>
            <a:endParaRPr lang="en-US" dirty="0"/>
          </a:p>
          <a:p>
            <a:endParaRPr lang="en-US" dirty="0"/>
          </a:p>
          <a:p>
            <a:r>
              <a:rPr lang="en-US" dirty="0"/>
              <a:t>A Data Analyst Portfolio Project</a:t>
            </a:r>
          </a:p>
          <a:p>
            <a:r>
              <a:rPr lang="en-US" dirty="0"/>
              <a:t>By: Britney Graham</a:t>
            </a:r>
          </a:p>
          <a:p>
            <a:r>
              <a:rPr lang="en-US" dirty="0"/>
              <a:t>09/01/2026</a:t>
            </a:r>
          </a:p>
          <a:p>
            <a:endParaRPr lang="en-US" dirty="0"/>
          </a:p>
        </p:txBody>
      </p:sp>
    </p:spTree>
    <p:extLst>
      <p:ext uri="{BB962C8B-B14F-4D97-AF65-F5344CB8AC3E}">
        <p14:creationId xmlns:p14="http://schemas.microsoft.com/office/powerpoint/2010/main" val="1096406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52D3D-FFF1-A3D6-822A-3D0ECEC1FF32}"/>
              </a:ext>
            </a:extLst>
          </p:cNvPr>
          <p:cNvSpPr>
            <a:spLocks noGrp="1"/>
          </p:cNvSpPr>
          <p:nvPr>
            <p:ph type="title"/>
          </p:nvPr>
        </p:nvSpPr>
        <p:spPr/>
        <p:txBody>
          <a:bodyPr/>
          <a:lstStyle/>
          <a:p>
            <a:r>
              <a:rPr lang="en-US" dirty="0"/>
              <a:t>The Business Question</a:t>
            </a:r>
          </a:p>
        </p:txBody>
      </p:sp>
      <p:sp>
        <p:nvSpPr>
          <p:cNvPr id="3" name="Content Placeholder 2">
            <a:extLst>
              <a:ext uri="{FF2B5EF4-FFF2-40B4-BE49-F238E27FC236}">
                <a16:creationId xmlns:a16="http://schemas.microsoft.com/office/drawing/2014/main" id="{908925D8-1850-5341-7FF3-6EFE41D854CE}"/>
              </a:ext>
            </a:extLst>
          </p:cNvPr>
          <p:cNvSpPr>
            <a:spLocks noGrp="1"/>
          </p:cNvSpPr>
          <p:nvPr>
            <p:ph idx="1"/>
          </p:nvPr>
        </p:nvSpPr>
        <p:spPr/>
        <p:txBody>
          <a:bodyPr/>
          <a:lstStyle/>
          <a:p>
            <a:pPr marL="0" indent="0">
              <a:buNone/>
            </a:pPr>
            <a:r>
              <a:rPr lang="en-US" dirty="0"/>
              <a:t>The goal of this presentation is to answer the following question:</a:t>
            </a:r>
          </a:p>
          <a:p>
            <a:r>
              <a:rPr lang="en-US" dirty="0"/>
              <a:t>How can </a:t>
            </a:r>
            <a:r>
              <a:rPr lang="en-US" dirty="0" err="1"/>
              <a:t>JD.com</a:t>
            </a:r>
            <a:r>
              <a:rPr lang="en-US" dirty="0"/>
              <a:t> use recorded search and shopping behavior to identify engagement patterns, compare purchasing performance, and prioritize opportunities for product, marketing, and seller improvement?</a:t>
            </a:r>
          </a:p>
          <a:p>
            <a:pPr marL="0" indent="0">
              <a:buNone/>
            </a:pPr>
            <a:r>
              <a:rPr lang="en-US" dirty="0"/>
              <a:t>Objectives</a:t>
            </a:r>
          </a:p>
          <a:p>
            <a:r>
              <a:rPr lang="en-US" dirty="0"/>
              <a:t>Analyze engagement and purchase patterns.</a:t>
            </a:r>
          </a:p>
          <a:p>
            <a:r>
              <a:rPr lang="en-US" dirty="0"/>
              <a:t>Compare categories, brands, shops, products, and queries.</a:t>
            </a:r>
          </a:p>
          <a:p>
            <a:r>
              <a:rPr lang="en-US" dirty="0"/>
              <a:t>Identify areas warranting further investigation.</a:t>
            </a:r>
          </a:p>
          <a:p>
            <a:r>
              <a:rPr lang="en-US" dirty="0"/>
              <a:t>Translate findings into actionable recommendations.</a:t>
            </a:r>
          </a:p>
          <a:p>
            <a:pPr marL="0" indent="0">
              <a:buNone/>
            </a:pPr>
            <a:endParaRPr lang="en-US" dirty="0"/>
          </a:p>
        </p:txBody>
      </p:sp>
    </p:spTree>
    <p:extLst>
      <p:ext uri="{BB962C8B-B14F-4D97-AF65-F5344CB8AC3E}">
        <p14:creationId xmlns:p14="http://schemas.microsoft.com/office/powerpoint/2010/main" val="2524737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D7DD853-AA15-E985-04EF-11AB57F06A31}"/>
              </a:ext>
            </a:extLst>
          </p:cNvPr>
          <p:cNvSpPr>
            <a:spLocks noGrp="1"/>
          </p:cNvSpPr>
          <p:nvPr>
            <p:ph type="pic" idx="1"/>
          </p:nvPr>
        </p:nvSpPr>
        <p:spPr/>
        <p:txBody>
          <a:bodyPr/>
          <a:lstStyle/>
          <a:p>
            <a:endParaRPr lang="en-US"/>
          </a:p>
        </p:txBody>
      </p:sp>
      <p:sp>
        <p:nvSpPr>
          <p:cNvPr id="3" name="Title 2">
            <a:extLst>
              <a:ext uri="{FF2B5EF4-FFF2-40B4-BE49-F238E27FC236}">
                <a16:creationId xmlns:a16="http://schemas.microsoft.com/office/drawing/2014/main" id="{BB0720A3-7922-5655-2C34-8F46905C8458}"/>
              </a:ext>
            </a:extLst>
          </p:cNvPr>
          <p:cNvSpPr>
            <a:spLocks noGrp="1"/>
          </p:cNvSpPr>
          <p:nvPr>
            <p:ph type="title"/>
          </p:nvPr>
        </p:nvSpPr>
        <p:spPr/>
        <p:txBody>
          <a:bodyPr/>
          <a:lstStyle/>
          <a:p>
            <a:r>
              <a:rPr lang="en-US" dirty="0"/>
              <a:t>Dataset Composition</a:t>
            </a:r>
          </a:p>
        </p:txBody>
      </p:sp>
      <p:sp>
        <p:nvSpPr>
          <p:cNvPr id="4" name="Text Placeholder 3">
            <a:extLst>
              <a:ext uri="{FF2B5EF4-FFF2-40B4-BE49-F238E27FC236}">
                <a16:creationId xmlns:a16="http://schemas.microsoft.com/office/drawing/2014/main" id="{1332A338-8F13-3E3E-F261-C24FA5A466ED}"/>
              </a:ext>
            </a:extLst>
          </p:cNvPr>
          <p:cNvSpPr>
            <a:spLocks noGrp="1"/>
          </p:cNvSpPr>
          <p:nvPr>
            <p:ph type="body" sz="half" idx="2"/>
          </p:nvPr>
        </p:nvSpPr>
        <p:spPr/>
        <p:txBody>
          <a:bodyPr/>
          <a:lstStyle/>
          <a:p>
            <a:r>
              <a:rPr lang="en-US" dirty="0"/>
              <a:t>This table summarizes the distribution of interaction labels</a:t>
            </a:r>
          </a:p>
        </p:txBody>
      </p:sp>
      <p:graphicFrame>
        <p:nvGraphicFramePr>
          <p:cNvPr id="5" name="Table 4">
            <a:extLst>
              <a:ext uri="{FF2B5EF4-FFF2-40B4-BE49-F238E27FC236}">
                <a16:creationId xmlns:a16="http://schemas.microsoft.com/office/drawing/2014/main" id="{9EEE147F-8A28-891A-D62A-2AB37BD8EAFF}"/>
              </a:ext>
            </a:extLst>
          </p:cNvPr>
          <p:cNvGraphicFramePr>
            <a:graphicFrameLocks noGrp="1"/>
          </p:cNvGraphicFramePr>
          <p:nvPr>
            <p:extLst>
              <p:ext uri="{D42A27DB-BD31-4B8C-83A1-F6EECF244321}">
                <p14:modId xmlns:p14="http://schemas.microsoft.com/office/powerpoint/2010/main" val="2247846997"/>
              </p:ext>
            </p:extLst>
          </p:nvPr>
        </p:nvGraphicFramePr>
        <p:xfrm>
          <a:off x="7674963" y="149903"/>
          <a:ext cx="4347147" cy="3287844"/>
        </p:xfrm>
        <a:graphic>
          <a:graphicData uri="http://schemas.openxmlformats.org/drawingml/2006/table">
            <a:tbl>
              <a:tblPr firstRow="1" bandRow="1">
                <a:tableStyleId>{5C22544A-7EE6-4342-B048-85BDC9FD1C3A}</a:tableStyleId>
              </a:tblPr>
              <a:tblGrid>
                <a:gridCol w="1449049">
                  <a:extLst>
                    <a:ext uri="{9D8B030D-6E8A-4147-A177-3AD203B41FA5}">
                      <a16:colId xmlns:a16="http://schemas.microsoft.com/office/drawing/2014/main" val="2495962221"/>
                    </a:ext>
                  </a:extLst>
                </a:gridCol>
                <a:gridCol w="1449049">
                  <a:extLst>
                    <a:ext uri="{9D8B030D-6E8A-4147-A177-3AD203B41FA5}">
                      <a16:colId xmlns:a16="http://schemas.microsoft.com/office/drawing/2014/main" val="1728499086"/>
                    </a:ext>
                  </a:extLst>
                </a:gridCol>
                <a:gridCol w="1449049">
                  <a:extLst>
                    <a:ext uri="{9D8B030D-6E8A-4147-A177-3AD203B41FA5}">
                      <a16:colId xmlns:a16="http://schemas.microsoft.com/office/drawing/2014/main" val="3959576968"/>
                    </a:ext>
                  </a:extLst>
                </a:gridCol>
              </a:tblGrid>
              <a:tr h="814213">
                <a:tc>
                  <a:txBody>
                    <a:bodyPr/>
                    <a:lstStyle/>
                    <a:p>
                      <a:r>
                        <a:rPr lang="en-US" dirty="0"/>
                        <a:t>Interaction</a:t>
                      </a:r>
                    </a:p>
                  </a:txBody>
                  <a:tcPr/>
                </a:tc>
                <a:tc>
                  <a:txBody>
                    <a:bodyPr/>
                    <a:lstStyle/>
                    <a:p>
                      <a:r>
                        <a:rPr lang="en-US" dirty="0"/>
                        <a:t># of Records</a:t>
                      </a:r>
                    </a:p>
                  </a:txBody>
                  <a:tcPr/>
                </a:tc>
                <a:tc>
                  <a:txBody>
                    <a:bodyPr/>
                    <a:lstStyle/>
                    <a:p>
                      <a:r>
                        <a:rPr lang="en-US" sz="1600" dirty="0"/>
                        <a:t>Share of Positive Interactions</a:t>
                      </a:r>
                    </a:p>
                  </a:txBody>
                  <a:tcPr/>
                </a:tc>
                <a:extLst>
                  <a:ext uri="{0D108BD9-81ED-4DB2-BD59-A6C34878D82A}">
                    <a16:rowId xmlns:a16="http://schemas.microsoft.com/office/drawing/2014/main" val="2443628298"/>
                  </a:ext>
                </a:extLst>
              </a:tr>
              <a:tr h="616221">
                <a:tc>
                  <a:txBody>
                    <a:bodyPr/>
                    <a:lstStyle/>
                    <a:p>
                      <a:r>
                        <a:rPr lang="en-US" dirty="0"/>
                        <a:t>Clicks</a:t>
                      </a:r>
                    </a:p>
                  </a:txBody>
                  <a:tcPr/>
                </a:tc>
                <a:tc>
                  <a:txBody>
                    <a:bodyPr/>
                    <a:lstStyle/>
                    <a:p>
                      <a:r>
                        <a:rPr lang="en-US" dirty="0"/>
                        <a:t>223,909</a:t>
                      </a:r>
                    </a:p>
                  </a:txBody>
                  <a:tcPr/>
                </a:tc>
                <a:tc>
                  <a:txBody>
                    <a:bodyPr/>
                    <a:lstStyle/>
                    <a:p>
                      <a:r>
                        <a:rPr lang="en-US" dirty="0"/>
                        <a:t>69.94%</a:t>
                      </a:r>
                    </a:p>
                  </a:txBody>
                  <a:tcPr/>
                </a:tc>
                <a:extLst>
                  <a:ext uri="{0D108BD9-81ED-4DB2-BD59-A6C34878D82A}">
                    <a16:rowId xmlns:a16="http://schemas.microsoft.com/office/drawing/2014/main" val="2350923631"/>
                  </a:ext>
                </a:extLst>
              </a:tr>
              <a:tr h="616221">
                <a:tc>
                  <a:txBody>
                    <a:bodyPr/>
                    <a:lstStyle/>
                    <a:p>
                      <a:r>
                        <a:rPr lang="en-US" dirty="0"/>
                        <a:t>Add to Cart</a:t>
                      </a:r>
                    </a:p>
                  </a:txBody>
                  <a:tcPr/>
                </a:tc>
                <a:tc>
                  <a:txBody>
                    <a:bodyPr/>
                    <a:lstStyle/>
                    <a:p>
                      <a:r>
                        <a:rPr lang="en-US" dirty="0"/>
                        <a:t>75,407</a:t>
                      </a:r>
                    </a:p>
                  </a:txBody>
                  <a:tcPr/>
                </a:tc>
                <a:tc>
                  <a:txBody>
                    <a:bodyPr/>
                    <a:lstStyle/>
                    <a:p>
                      <a:r>
                        <a:rPr lang="en-US" dirty="0"/>
                        <a:t>23.55%</a:t>
                      </a:r>
                    </a:p>
                  </a:txBody>
                  <a:tcPr/>
                </a:tc>
                <a:extLst>
                  <a:ext uri="{0D108BD9-81ED-4DB2-BD59-A6C34878D82A}">
                    <a16:rowId xmlns:a16="http://schemas.microsoft.com/office/drawing/2014/main" val="3144038155"/>
                  </a:ext>
                </a:extLst>
              </a:tr>
              <a:tr h="616221">
                <a:tc>
                  <a:txBody>
                    <a:bodyPr/>
                    <a:lstStyle/>
                    <a:p>
                      <a:r>
                        <a:rPr lang="en-US" dirty="0"/>
                        <a:t>Purchases</a:t>
                      </a:r>
                    </a:p>
                  </a:txBody>
                  <a:tcPr/>
                </a:tc>
                <a:tc>
                  <a:txBody>
                    <a:bodyPr/>
                    <a:lstStyle/>
                    <a:p>
                      <a:r>
                        <a:rPr lang="en-US" dirty="0"/>
                        <a:t>20,816</a:t>
                      </a:r>
                    </a:p>
                  </a:txBody>
                  <a:tcPr/>
                </a:tc>
                <a:tc>
                  <a:txBody>
                    <a:bodyPr/>
                    <a:lstStyle/>
                    <a:p>
                      <a:r>
                        <a:rPr lang="en-US" dirty="0"/>
                        <a:t>6.50%</a:t>
                      </a:r>
                    </a:p>
                  </a:txBody>
                  <a:tcPr/>
                </a:tc>
                <a:extLst>
                  <a:ext uri="{0D108BD9-81ED-4DB2-BD59-A6C34878D82A}">
                    <a16:rowId xmlns:a16="http://schemas.microsoft.com/office/drawing/2014/main" val="3682058204"/>
                  </a:ext>
                </a:extLst>
              </a:tr>
              <a:tr h="616221">
                <a:tc>
                  <a:txBody>
                    <a:bodyPr/>
                    <a:lstStyle/>
                    <a:p>
                      <a:r>
                        <a:rPr lang="en-US" dirty="0"/>
                        <a:t>Total</a:t>
                      </a:r>
                    </a:p>
                  </a:txBody>
                  <a:tcPr/>
                </a:tc>
                <a:tc>
                  <a:txBody>
                    <a:bodyPr/>
                    <a:lstStyle/>
                    <a:p>
                      <a:r>
                        <a:rPr lang="en-US" dirty="0"/>
                        <a:t>320,132</a:t>
                      </a:r>
                    </a:p>
                  </a:txBody>
                  <a:tcPr/>
                </a:tc>
                <a:tc>
                  <a:txBody>
                    <a:bodyPr/>
                    <a:lstStyle/>
                    <a:p>
                      <a:r>
                        <a:rPr lang="en-US" dirty="0"/>
                        <a:t>100%</a:t>
                      </a:r>
                    </a:p>
                  </a:txBody>
                  <a:tcPr/>
                </a:tc>
                <a:extLst>
                  <a:ext uri="{0D108BD9-81ED-4DB2-BD59-A6C34878D82A}">
                    <a16:rowId xmlns:a16="http://schemas.microsoft.com/office/drawing/2014/main" val="1748468269"/>
                  </a:ext>
                </a:extLst>
              </a:tr>
            </a:tbl>
          </a:graphicData>
        </a:graphic>
      </p:graphicFrame>
      <p:graphicFrame>
        <p:nvGraphicFramePr>
          <p:cNvPr id="7" name="Table 6">
            <a:extLst>
              <a:ext uri="{FF2B5EF4-FFF2-40B4-BE49-F238E27FC236}">
                <a16:creationId xmlns:a16="http://schemas.microsoft.com/office/drawing/2014/main" id="{1720AD14-BE08-58BE-06F6-7BB2D44EED54}"/>
              </a:ext>
            </a:extLst>
          </p:cNvPr>
          <p:cNvGraphicFramePr>
            <a:graphicFrameLocks noGrp="1"/>
          </p:cNvGraphicFramePr>
          <p:nvPr>
            <p:extLst>
              <p:ext uri="{D42A27DB-BD31-4B8C-83A1-F6EECF244321}">
                <p14:modId xmlns:p14="http://schemas.microsoft.com/office/powerpoint/2010/main" val="2724529872"/>
              </p:ext>
            </p:extLst>
          </p:nvPr>
        </p:nvGraphicFramePr>
        <p:xfrm>
          <a:off x="7674962" y="3282845"/>
          <a:ext cx="4347148" cy="3425250"/>
        </p:xfrm>
        <a:graphic>
          <a:graphicData uri="http://schemas.openxmlformats.org/drawingml/2006/table">
            <a:tbl>
              <a:tblPr firstRow="1" bandRow="1">
                <a:tableStyleId>{5C22544A-7EE6-4342-B048-85BDC9FD1C3A}</a:tableStyleId>
              </a:tblPr>
              <a:tblGrid>
                <a:gridCol w="2173574">
                  <a:extLst>
                    <a:ext uri="{9D8B030D-6E8A-4147-A177-3AD203B41FA5}">
                      <a16:colId xmlns:a16="http://schemas.microsoft.com/office/drawing/2014/main" val="2992054202"/>
                    </a:ext>
                  </a:extLst>
                </a:gridCol>
                <a:gridCol w="2173574">
                  <a:extLst>
                    <a:ext uri="{9D8B030D-6E8A-4147-A177-3AD203B41FA5}">
                      <a16:colId xmlns:a16="http://schemas.microsoft.com/office/drawing/2014/main" val="2774023065"/>
                    </a:ext>
                  </a:extLst>
                </a:gridCol>
              </a:tblGrid>
              <a:tr h="685050">
                <a:tc>
                  <a:txBody>
                    <a:bodyPr/>
                    <a:lstStyle/>
                    <a:p>
                      <a:r>
                        <a:rPr lang="en-US" dirty="0"/>
                        <a:t>Additional Scope</a:t>
                      </a:r>
                    </a:p>
                  </a:txBody>
                  <a:tcPr/>
                </a:tc>
                <a:tc>
                  <a:txBody>
                    <a:bodyPr/>
                    <a:lstStyle/>
                    <a:p>
                      <a:r>
                        <a:rPr lang="en-US" dirty="0"/>
                        <a:t># of Records</a:t>
                      </a:r>
                    </a:p>
                  </a:txBody>
                  <a:tcPr/>
                </a:tc>
                <a:extLst>
                  <a:ext uri="{0D108BD9-81ED-4DB2-BD59-A6C34878D82A}">
                    <a16:rowId xmlns:a16="http://schemas.microsoft.com/office/drawing/2014/main" val="3536805448"/>
                  </a:ext>
                </a:extLst>
              </a:tr>
              <a:tr h="685050">
                <a:tc>
                  <a:txBody>
                    <a:bodyPr/>
                    <a:lstStyle/>
                    <a:p>
                      <a:r>
                        <a:rPr lang="en-US" dirty="0"/>
                        <a:t>Unique Query Records</a:t>
                      </a:r>
                    </a:p>
                  </a:txBody>
                  <a:tcPr/>
                </a:tc>
                <a:tc>
                  <a:txBody>
                    <a:bodyPr/>
                    <a:lstStyle/>
                    <a:p>
                      <a:r>
                        <a:rPr lang="en-US" dirty="0"/>
                        <a:t>110,393</a:t>
                      </a:r>
                    </a:p>
                  </a:txBody>
                  <a:tcPr/>
                </a:tc>
                <a:extLst>
                  <a:ext uri="{0D108BD9-81ED-4DB2-BD59-A6C34878D82A}">
                    <a16:rowId xmlns:a16="http://schemas.microsoft.com/office/drawing/2014/main" val="1396169826"/>
                  </a:ext>
                </a:extLst>
              </a:tr>
              <a:tr h="685050">
                <a:tc>
                  <a:txBody>
                    <a:bodyPr/>
                    <a:lstStyle/>
                    <a:p>
                      <a:r>
                        <a:rPr lang="en-US" dirty="0"/>
                        <a:t>Unique Products</a:t>
                      </a:r>
                    </a:p>
                  </a:txBody>
                  <a:tcPr/>
                </a:tc>
                <a:tc>
                  <a:txBody>
                    <a:bodyPr/>
                    <a:lstStyle/>
                    <a:p>
                      <a:r>
                        <a:rPr lang="en-US" dirty="0"/>
                        <a:t>237,814</a:t>
                      </a:r>
                    </a:p>
                  </a:txBody>
                  <a:tcPr/>
                </a:tc>
                <a:extLst>
                  <a:ext uri="{0D108BD9-81ED-4DB2-BD59-A6C34878D82A}">
                    <a16:rowId xmlns:a16="http://schemas.microsoft.com/office/drawing/2014/main" val="2279871512"/>
                  </a:ext>
                </a:extLst>
              </a:tr>
              <a:tr h="685050">
                <a:tc>
                  <a:txBody>
                    <a:bodyPr/>
                    <a:lstStyle/>
                    <a:p>
                      <a:r>
                        <a:rPr lang="en-US" dirty="0"/>
                        <a:t>Unique Brands</a:t>
                      </a:r>
                    </a:p>
                  </a:txBody>
                  <a:tcPr/>
                </a:tc>
                <a:tc>
                  <a:txBody>
                    <a:bodyPr/>
                    <a:lstStyle/>
                    <a:p>
                      <a:r>
                        <a:rPr lang="en-US" dirty="0"/>
                        <a:t>47,757</a:t>
                      </a:r>
                    </a:p>
                  </a:txBody>
                  <a:tcPr/>
                </a:tc>
                <a:extLst>
                  <a:ext uri="{0D108BD9-81ED-4DB2-BD59-A6C34878D82A}">
                    <a16:rowId xmlns:a16="http://schemas.microsoft.com/office/drawing/2014/main" val="298595106"/>
                  </a:ext>
                </a:extLst>
              </a:tr>
              <a:tr h="685050">
                <a:tc>
                  <a:txBody>
                    <a:bodyPr/>
                    <a:lstStyle/>
                    <a:p>
                      <a:r>
                        <a:rPr lang="en-US" dirty="0"/>
                        <a:t>Categories</a:t>
                      </a:r>
                    </a:p>
                  </a:txBody>
                  <a:tcPr/>
                </a:tc>
                <a:tc>
                  <a:txBody>
                    <a:bodyPr/>
                    <a:lstStyle/>
                    <a:p>
                      <a:r>
                        <a:rPr lang="en-US" dirty="0"/>
                        <a:t>4,777</a:t>
                      </a:r>
                    </a:p>
                  </a:txBody>
                  <a:tcPr/>
                </a:tc>
                <a:extLst>
                  <a:ext uri="{0D108BD9-81ED-4DB2-BD59-A6C34878D82A}">
                    <a16:rowId xmlns:a16="http://schemas.microsoft.com/office/drawing/2014/main" val="2558998592"/>
                  </a:ext>
                </a:extLst>
              </a:tr>
            </a:tbl>
          </a:graphicData>
        </a:graphic>
      </p:graphicFrame>
    </p:spTree>
    <p:extLst>
      <p:ext uri="{BB962C8B-B14F-4D97-AF65-F5344CB8AC3E}">
        <p14:creationId xmlns:p14="http://schemas.microsoft.com/office/powerpoint/2010/main" val="3093799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52F50284-99D9-3DE5-93A3-9808154993E3}"/>
              </a:ext>
            </a:extLst>
          </p:cNvPr>
          <p:cNvPicPr>
            <a:picLocks noGrp="1" noChangeAspect="1"/>
          </p:cNvPicPr>
          <p:nvPr>
            <p:ph type="pic" idx="1"/>
          </p:nvPr>
        </p:nvPicPr>
        <p:blipFill>
          <a:blip r:embed="rId3"/>
          <a:srcRect r="1" b="13906"/>
          <a:stretch>
            <a:fillRect/>
          </a:stretch>
        </p:blipFill>
        <p:spPr>
          <a:xfrm>
            <a:off x="3215640" y="1120792"/>
            <a:ext cx="5760720" cy="3099816"/>
          </a:xfrm>
          <a:prstGeom prst="rect">
            <a:avLst/>
          </a:prstGeom>
          <a:solidFill>
            <a:prstClr val="white">
              <a:lumMod val="65000"/>
              <a:lumOff val="35000"/>
            </a:prstClr>
          </a:solidFill>
          <a:ln w="12700">
            <a:noFill/>
          </a:ln>
        </p:spPr>
      </p:pic>
      <p:sp>
        <p:nvSpPr>
          <p:cNvPr id="5" name="Title 4">
            <a:extLst>
              <a:ext uri="{FF2B5EF4-FFF2-40B4-BE49-F238E27FC236}">
                <a16:creationId xmlns:a16="http://schemas.microsoft.com/office/drawing/2014/main" id="{F4048E70-9E3A-7D9B-39AD-B26C2EB2C3C1}"/>
              </a:ext>
            </a:extLst>
          </p:cNvPr>
          <p:cNvSpPr>
            <a:spLocks noGrp="1"/>
          </p:cNvSpPr>
          <p:nvPr>
            <p:ph type="title"/>
          </p:nvPr>
        </p:nvSpPr>
        <p:spPr>
          <a:xfrm>
            <a:off x="2047793" y="4614902"/>
            <a:ext cx="8081960" cy="943954"/>
          </a:xfrm>
        </p:spPr>
        <p:txBody>
          <a:bodyPr vert="horz" lIns="228600" tIns="228600" rIns="228600" bIns="0" rtlCol="0" anchor="b">
            <a:normAutofit/>
          </a:bodyPr>
          <a:lstStyle/>
          <a:p>
            <a:pPr>
              <a:lnSpc>
                <a:spcPct val="80000"/>
              </a:lnSpc>
            </a:pPr>
            <a:r>
              <a:rPr lang="en-US" sz="4000">
                <a:solidFill>
                  <a:schemeClr val="tx2"/>
                </a:solidFill>
              </a:rPr>
              <a:t>Understanding Purchase Share</a:t>
            </a:r>
          </a:p>
        </p:txBody>
      </p:sp>
      <p:sp>
        <p:nvSpPr>
          <p:cNvPr id="7" name="Text Placeholder 6">
            <a:extLst>
              <a:ext uri="{FF2B5EF4-FFF2-40B4-BE49-F238E27FC236}">
                <a16:creationId xmlns:a16="http://schemas.microsoft.com/office/drawing/2014/main" id="{27933AE8-9836-F253-4C5E-65F180B12E45}"/>
              </a:ext>
            </a:extLst>
          </p:cNvPr>
          <p:cNvSpPr>
            <a:spLocks noGrp="1"/>
          </p:cNvSpPr>
          <p:nvPr>
            <p:ph type="body" sz="half" idx="2"/>
          </p:nvPr>
        </p:nvSpPr>
        <p:spPr>
          <a:xfrm>
            <a:off x="2047793" y="5558857"/>
            <a:ext cx="8081960" cy="522636"/>
          </a:xfrm>
        </p:spPr>
        <p:txBody>
          <a:bodyPr vert="horz" lIns="91440" tIns="0" rIns="91440" bIns="45720" rtlCol="0">
            <a:normAutofit/>
          </a:bodyPr>
          <a:lstStyle/>
          <a:p>
            <a:pPr>
              <a:lnSpc>
                <a:spcPct val="100000"/>
              </a:lnSpc>
            </a:pPr>
            <a:r>
              <a:rPr lang="en-US" sz="1600">
                <a:solidFill>
                  <a:schemeClr val="tx2"/>
                </a:solidFill>
              </a:rPr>
              <a:t>Purchase Share is not Traditional Conversion Rate</a:t>
            </a:r>
          </a:p>
        </p:txBody>
      </p:sp>
    </p:spTree>
    <p:extLst>
      <p:ext uri="{BB962C8B-B14F-4D97-AF65-F5344CB8AC3E}">
        <p14:creationId xmlns:p14="http://schemas.microsoft.com/office/powerpoint/2010/main" val="3375296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70714F5-EB36-6A4A-E2AF-D510B06E409A}"/>
              </a:ext>
            </a:extLst>
          </p:cNvPr>
          <p:cNvPicPr>
            <a:picLocks noGrp="1" noChangeAspect="1"/>
          </p:cNvPicPr>
          <p:nvPr>
            <p:ph type="pic" idx="1"/>
          </p:nvPr>
        </p:nvPicPr>
        <p:blipFill>
          <a:blip r:embed="rId3"/>
          <a:srcRect r="-1" b="12588"/>
          <a:stretch>
            <a:fillRect/>
          </a:stretch>
        </p:blipFill>
        <p:spPr>
          <a:xfrm>
            <a:off x="1103257" y="2416047"/>
            <a:ext cx="4626864" cy="3346704"/>
          </a:xfrm>
          <a:prstGeom prst="rect">
            <a:avLst/>
          </a:prstGeom>
          <a:ln w="12700">
            <a:noFill/>
          </a:ln>
        </p:spPr>
      </p:pic>
      <p:sp>
        <p:nvSpPr>
          <p:cNvPr id="3" name="Title 2">
            <a:extLst>
              <a:ext uri="{FF2B5EF4-FFF2-40B4-BE49-F238E27FC236}">
                <a16:creationId xmlns:a16="http://schemas.microsoft.com/office/drawing/2014/main" id="{7223199B-5750-7892-4F89-D89368DF1F09}"/>
              </a:ext>
            </a:extLst>
          </p:cNvPr>
          <p:cNvSpPr>
            <a:spLocks noGrp="1"/>
          </p:cNvSpPr>
          <p:nvPr>
            <p:ph type="title"/>
          </p:nvPr>
        </p:nvSpPr>
        <p:spPr>
          <a:xfrm>
            <a:off x="904877" y="795527"/>
            <a:ext cx="10488547" cy="1190912"/>
          </a:xfrm>
        </p:spPr>
        <p:txBody>
          <a:bodyPr vert="horz" lIns="228600" tIns="228600" rIns="228600" bIns="228600" rtlCol="0" anchor="ctr">
            <a:normAutofit/>
          </a:bodyPr>
          <a:lstStyle/>
          <a:p>
            <a:r>
              <a:rPr lang="en-US" sz="4000" dirty="0">
                <a:solidFill>
                  <a:schemeClr val="tx2"/>
                </a:solidFill>
              </a:rPr>
              <a:t>Where Should Stakeholders Investigate First?</a:t>
            </a:r>
          </a:p>
        </p:txBody>
      </p:sp>
      <p:sp>
        <p:nvSpPr>
          <p:cNvPr id="4" name="Text Placeholder 3">
            <a:extLst>
              <a:ext uri="{FF2B5EF4-FFF2-40B4-BE49-F238E27FC236}">
                <a16:creationId xmlns:a16="http://schemas.microsoft.com/office/drawing/2014/main" id="{5303026F-FABE-210C-795F-0698FD63CDC0}"/>
              </a:ext>
            </a:extLst>
          </p:cNvPr>
          <p:cNvSpPr>
            <a:spLocks noGrp="1"/>
          </p:cNvSpPr>
          <p:nvPr>
            <p:ph type="body" sz="half" idx="2"/>
          </p:nvPr>
        </p:nvSpPr>
        <p:spPr>
          <a:xfrm>
            <a:off x="6380703" y="2228850"/>
            <a:ext cx="5028928" cy="3699669"/>
          </a:xfrm>
        </p:spPr>
        <p:txBody>
          <a:bodyPr vert="horz" lIns="91440" tIns="45720" rIns="91440" bIns="45720" rtlCol="0" anchor="ctr">
            <a:normAutofit/>
          </a:bodyPr>
          <a:lstStyle/>
          <a:p>
            <a:pPr algn="l">
              <a:buClr>
                <a:srgbClr val="237EC6"/>
              </a:buClr>
            </a:pPr>
            <a:r>
              <a:rPr lang="en-US" dirty="0">
                <a:solidFill>
                  <a:schemeClr val="tx1"/>
                </a:solidFill>
              </a:rPr>
              <a:t>High Engagement</a:t>
            </a:r>
          </a:p>
          <a:p>
            <a:pPr algn="l">
              <a:buClr>
                <a:srgbClr val="237EC6"/>
              </a:buClr>
            </a:pPr>
            <a:r>
              <a:rPr lang="en-US" dirty="0">
                <a:solidFill>
                  <a:schemeClr val="tx1"/>
                </a:solidFill>
              </a:rPr>
              <a:t>+</a:t>
            </a:r>
          </a:p>
          <a:p>
            <a:pPr algn="l">
              <a:buClr>
                <a:srgbClr val="237EC6"/>
              </a:buClr>
            </a:pPr>
            <a:r>
              <a:rPr lang="en-US" dirty="0">
                <a:solidFill>
                  <a:schemeClr val="tx1"/>
                </a:solidFill>
              </a:rPr>
              <a:t>Below-Benchmark Purchase Share</a:t>
            </a:r>
          </a:p>
          <a:p>
            <a:pPr algn="l">
              <a:buClr>
                <a:srgbClr val="237EC6"/>
              </a:buClr>
            </a:pPr>
            <a:r>
              <a:rPr lang="en-US" dirty="0">
                <a:solidFill>
                  <a:schemeClr val="tx1"/>
                </a:solidFill>
              </a:rPr>
              <a:t>=</a:t>
            </a:r>
          </a:p>
          <a:p>
            <a:pPr algn="l">
              <a:buClr>
                <a:srgbClr val="237EC6"/>
              </a:buClr>
            </a:pPr>
            <a:r>
              <a:rPr lang="en-US" dirty="0">
                <a:solidFill>
                  <a:schemeClr val="tx1"/>
                </a:solidFill>
              </a:rPr>
              <a:t>Priority For Investigation</a:t>
            </a:r>
          </a:p>
          <a:p>
            <a:pPr indent="-228600" algn="l">
              <a:buClr>
                <a:srgbClr val="237EC6"/>
              </a:buClr>
              <a:buFont typeface="Wingdings" panose="05000000000000000000" pitchFamily="2" charset="2"/>
              <a:buChar char="§"/>
            </a:pPr>
            <a:endParaRPr lang="en-US" dirty="0">
              <a:solidFill>
                <a:schemeClr val="tx1"/>
              </a:solidFill>
            </a:endParaRPr>
          </a:p>
        </p:txBody>
      </p:sp>
    </p:spTree>
    <p:extLst>
      <p:ext uri="{BB962C8B-B14F-4D97-AF65-F5344CB8AC3E}">
        <p14:creationId xmlns:p14="http://schemas.microsoft.com/office/powerpoint/2010/main" val="4029924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F3F0D2-7D20-3540-BD92-878A0CB642A3}"/>
              </a:ext>
            </a:extLst>
          </p:cNvPr>
          <p:cNvSpPr>
            <a:spLocks noGrp="1"/>
          </p:cNvSpPr>
          <p:nvPr>
            <p:ph type="title"/>
          </p:nvPr>
        </p:nvSpPr>
        <p:spPr>
          <a:xfrm>
            <a:off x="888631" y="4760132"/>
            <a:ext cx="3947420" cy="1777829"/>
          </a:xfrm>
        </p:spPr>
        <p:txBody>
          <a:bodyPr vert="horz" lIns="228600" tIns="228600" rIns="228600" bIns="228600" rtlCol="0" anchor="ctr">
            <a:normAutofit/>
          </a:bodyPr>
          <a:lstStyle/>
          <a:p>
            <a:pPr algn="l"/>
            <a:r>
              <a:rPr lang="en-US" sz="3100"/>
              <a:t>Product Discovery Deserves Deeper Investigation</a:t>
            </a:r>
          </a:p>
        </p:txBody>
      </p:sp>
      <p:pic>
        <p:nvPicPr>
          <p:cNvPr id="8" name="Content Placeholder 7">
            <a:extLst>
              <a:ext uri="{FF2B5EF4-FFF2-40B4-BE49-F238E27FC236}">
                <a16:creationId xmlns:a16="http://schemas.microsoft.com/office/drawing/2014/main" id="{D8562A5A-0305-83A5-3EE5-F590CF863F69}"/>
              </a:ext>
            </a:extLst>
          </p:cNvPr>
          <p:cNvPicPr>
            <a:picLocks noGrp="1" noChangeAspect="1"/>
          </p:cNvPicPr>
          <p:nvPr>
            <p:ph sz="half" idx="1"/>
          </p:nvPr>
        </p:nvPicPr>
        <p:blipFill>
          <a:blip r:embed="rId3"/>
          <a:stretch>
            <a:fillRect/>
          </a:stretch>
        </p:blipFill>
        <p:spPr>
          <a:xfrm>
            <a:off x="2690234" y="671951"/>
            <a:ext cx="6820526" cy="3359108"/>
          </a:xfrm>
          <a:prstGeom prst="rect">
            <a:avLst/>
          </a:prstGeom>
        </p:spPr>
      </p:pic>
      <p:sp>
        <p:nvSpPr>
          <p:cNvPr id="7" name="Content Placeholder 6">
            <a:extLst>
              <a:ext uri="{FF2B5EF4-FFF2-40B4-BE49-F238E27FC236}">
                <a16:creationId xmlns:a16="http://schemas.microsoft.com/office/drawing/2014/main" id="{7A2A003D-FC99-C4EB-E427-C3916CDBBA7B}"/>
              </a:ext>
            </a:extLst>
          </p:cNvPr>
          <p:cNvSpPr>
            <a:spLocks noGrp="1"/>
          </p:cNvSpPr>
          <p:nvPr>
            <p:ph sz="half" idx="2"/>
          </p:nvPr>
        </p:nvSpPr>
        <p:spPr>
          <a:xfrm>
            <a:off x="5118447" y="4767660"/>
            <a:ext cx="6281873" cy="1770300"/>
          </a:xfrm>
        </p:spPr>
        <p:txBody>
          <a:bodyPr vert="horz" lIns="91440" tIns="45720" rIns="91440" bIns="45720" rtlCol="0" anchor="ctr">
            <a:normAutofit/>
          </a:bodyPr>
          <a:lstStyle/>
          <a:p>
            <a:pPr marL="0">
              <a:lnSpc>
                <a:spcPct val="110000"/>
              </a:lnSpc>
            </a:pPr>
            <a:r>
              <a:rPr lang="en-US" sz="1300"/>
              <a:t>Focus on:</a:t>
            </a:r>
          </a:p>
          <a:p>
            <a:pPr>
              <a:lnSpc>
                <a:spcPct val="110000"/>
              </a:lnSpc>
            </a:pPr>
            <a:r>
              <a:rPr lang="en-US" sz="1300"/>
              <a:t>High volume products and queries</a:t>
            </a:r>
          </a:p>
          <a:p>
            <a:pPr>
              <a:lnSpc>
                <a:spcPct val="110000"/>
              </a:lnSpc>
            </a:pPr>
            <a:r>
              <a:rPr lang="en-US" sz="1300"/>
              <a:t>Strong Purchase Share performers</a:t>
            </a:r>
          </a:p>
          <a:p>
            <a:pPr>
              <a:lnSpc>
                <a:spcPct val="110000"/>
              </a:lnSpc>
            </a:pPr>
            <a:r>
              <a:rPr lang="en-US" sz="1300"/>
              <a:t>High-Engagement / Lower-Purchase Share segments</a:t>
            </a:r>
          </a:p>
          <a:p>
            <a:pPr>
              <a:lnSpc>
                <a:spcPct val="110000"/>
              </a:lnSpc>
            </a:pPr>
            <a:r>
              <a:rPr lang="en-US" sz="1300"/>
              <a:t>Potential product-discovery opportunites</a:t>
            </a:r>
          </a:p>
          <a:p>
            <a:pPr>
              <a:lnSpc>
                <a:spcPct val="110000"/>
              </a:lnSpc>
            </a:pPr>
            <a:endParaRPr lang="en-US" sz="1300"/>
          </a:p>
        </p:txBody>
      </p:sp>
    </p:spTree>
    <p:extLst>
      <p:ext uri="{BB962C8B-B14F-4D97-AF65-F5344CB8AC3E}">
        <p14:creationId xmlns:p14="http://schemas.microsoft.com/office/powerpoint/2010/main" val="3475366100"/>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1796E43-8928-9400-D807-7227193238ED}"/>
              </a:ext>
            </a:extLst>
          </p:cNvPr>
          <p:cNvSpPr>
            <a:spLocks noGrp="1"/>
          </p:cNvSpPr>
          <p:nvPr>
            <p:ph type="title"/>
          </p:nvPr>
        </p:nvSpPr>
        <p:spPr>
          <a:xfrm>
            <a:off x="888631" y="2358391"/>
            <a:ext cx="3498979" cy="2453676"/>
          </a:xfrm>
        </p:spPr>
        <p:txBody>
          <a:bodyPr vert="horz" lIns="228600" tIns="228600" rIns="228600" bIns="228600" rtlCol="0" anchor="ctr">
            <a:normAutofit/>
          </a:bodyPr>
          <a:lstStyle/>
          <a:p>
            <a:r>
              <a:rPr lang="en-US" sz="3700" dirty="0"/>
              <a:t>Performance Varies Across Brands and Shops</a:t>
            </a:r>
          </a:p>
        </p:txBody>
      </p:sp>
      <p:sp>
        <p:nvSpPr>
          <p:cNvPr id="6" name="Content Placeholder 5">
            <a:extLst>
              <a:ext uri="{FF2B5EF4-FFF2-40B4-BE49-F238E27FC236}">
                <a16:creationId xmlns:a16="http://schemas.microsoft.com/office/drawing/2014/main" id="{69B106B7-2966-64A5-6A8C-5A11B6D8C8E5}"/>
              </a:ext>
            </a:extLst>
          </p:cNvPr>
          <p:cNvSpPr>
            <a:spLocks noGrp="1"/>
          </p:cNvSpPr>
          <p:nvPr>
            <p:ph sz="half" idx="1"/>
          </p:nvPr>
        </p:nvSpPr>
        <p:spPr>
          <a:xfrm>
            <a:off x="5118447" y="4267830"/>
            <a:ext cx="6281873" cy="1783977"/>
          </a:xfrm>
        </p:spPr>
        <p:txBody>
          <a:bodyPr vert="horz" lIns="91440" tIns="45720" rIns="91440" bIns="45720" rtlCol="0" anchor="ctr">
            <a:normAutofit fontScale="85000" lnSpcReduction="20000"/>
          </a:bodyPr>
          <a:lstStyle/>
          <a:p>
            <a:pPr marL="0" indent="0">
              <a:lnSpc>
                <a:spcPct val="110000"/>
              </a:lnSpc>
              <a:buNone/>
            </a:pPr>
            <a:r>
              <a:rPr lang="en-US" sz="1400" dirty="0"/>
              <a:t>Evaluate:</a:t>
            </a:r>
          </a:p>
          <a:p>
            <a:pPr marL="0">
              <a:lnSpc>
                <a:spcPct val="110000"/>
              </a:lnSpc>
            </a:pPr>
            <a:r>
              <a:rPr lang="en-US" sz="1400" dirty="0"/>
              <a:t>Engagement volumes</a:t>
            </a:r>
          </a:p>
          <a:p>
            <a:pPr marL="0">
              <a:lnSpc>
                <a:spcPct val="110000"/>
              </a:lnSpc>
            </a:pPr>
            <a:r>
              <a:rPr lang="en-US" sz="1400" dirty="0"/>
              <a:t>Purchase volume</a:t>
            </a:r>
          </a:p>
          <a:p>
            <a:pPr marL="0">
              <a:lnSpc>
                <a:spcPct val="110000"/>
              </a:lnSpc>
            </a:pPr>
            <a:r>
              <a:rPr lang="en-US" sz="1400" dirty="0"/>
              <a:t>Purchase Share</a:t>
            </a:r>
          </a:p>
          <a:p>
            <a:pPr marL="0">
              <a:lnSpc>
                <a:spcPct val="110000"/>
              </a:lnSpc>
            </a:pPr>
            <a:r>
              <a:rPr lang="en-US" sz="1400" dirty="0"/>
              <a:t>318,356 identified shop interactions</a:t>
            </a:r>
          </a:p>
          <a:p>
            <a:pPr marL="0">
              <a:lnSpc>
                <a:spcPct val="110000"/>
              </a:lnSpc>
            </a:pPr>
            <a:r>
              <a:rPr lang="en-US" sz="1400" dirty="0"/>
              <a:t>1,776 records with unidentified shop ID excluded</a:t>
            </a:r>
          </a:p>
        </p:txBody>
      </p:sp>
      <p:pic>
        <p:nvPicPr>
          <p:cNvPr id="8" name="Content Placeholder 7">
            <a:extLst>
              <a:ext uri="{FF2B5EF4-FFF2-40B4-BE49-F238E27FC236}">
                <a16:creationId xmlns:a16="http://schemas.microsoft.com/office/drawing/2014/main" id="{5699C0EF-E700-404F-269D-9A2EBCF71DF0}"/>
              </a:ext>
            </a:extLst>
          </p:cNvPr>
          <p:cNvPicPr>
            <a:picLocks noGrp="1" noChangeAspect="1"/>
          </p:cNvPicPr>
          <p:nvPr>
            <p:ph sz="half" idx="2"/>
          </p:nvPr>
        </p:nvPicPr>
        <p:blipFill>
          <a:blip r:embed="rId3"/>
          <a:srcRect r="-3" b="4133"/>
          <a:stretch>
            <a:fillRect/>
          </a:stretch>
        </p:blipFill>
        <p:spPr>
          <a:xfrm>
            <a:off x="5115908" y="804036"/>
            <a:ext cx="6274561" cy="2977469"/>
          </a:xfrm>
          <a:prstGeom prst="rect">
            <a:avLst/>
          </a:prstGeom>
          <a:ln w="9525">
            <a:solidFill>
              <a:schemeClr val="tx1">
                <a:alpha val="20000"/>
              </a:schemeClr>
            </a:solidFill>
          </a:ln>
        </p:spPr>
      </p:pic>
    </p:spTree>
    <p:extLst>
      <p:ext uri="{BB962C8B-B14F-4D97-AF65-F5344CB8AC3E}">
        <p14:creationId xmlns:p14="http://schemas.microsoft.com/office/powerpoint/2010/main" val="2286228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B62EA41-0510-847A-528D-E309A912196C}"/>
              </a:ext>
            </a:extLst>
          </p:cNvPr>
          <p:cNvSpPr>
            <a:spLocks noGrp="1"/>
          </p:cNvSpPr>
          <p:nvPr>
            <p:ph type="title"/>
          </p:nvPr>
        </p:nvSpPr>
        <p:spPr/>
        <p:txBody>
          <a:bodyPr/>
          <a:lstStyle/>
          <a:p>
            <a:r>
              <a:rPr lang="en-US" dirty="0"/>
              <a:t>Four Primary Diagnostic Areas</a:t>
            </a:r>
          </a:p>
        </p:txBody>
      </p:sp>
      <p:sp>
        <p:nvSpPr>
          <p:cNvPr id="6" name="Content Placeholder 5">
            <a:extLst>
              <a:ext uri="{FF2B5EF4-FFF2-40B4-BE49-F238E27FC236}">
                <a16:creationId xmlns:a16="http://schemas.microsoft.com/office/drawing/2014/main" id="{15D29DDF-4982-E995-64AA-37AA62A7468B}"/>
              </a:ext>
            </a:extLst>
          </p:cNvPr>
          <p:cNvSpPr>
            <a:spLocks noGrp="1"/>
          </p:cNvSpPr>
          <p:nvPr>
            <p:ph sz="half" idx="1"/>
          </p:nvPr>
        </p:nvSpPr>
        <p:spPr>
          <a:xfrm>
            <a:off x="5120879" y="803187"/>
            <a:ext cx="3043408" cy="2382651"/>
          </a:xfrm>
        </p:spPr>
        <p:txBody>
          <a:bodyPr/>
          <a:lstStyle/>
          <a:p>
            <a:pPr marL="0" indent="0">
              <a:buNone/>
            </a:pPr>
            <a:r>
              <a:rPr lang="en-US" dirty="0"/>
              <a:t>1. Product Information</a:t>
            </a:r>
          </a:p>
          <a:p>
            <a:r>
              <a:rPr lang="en-US" dirty="0"/>
              <a:t>Images</a:t>
            </a:r>
          </a:p>
          <a:p>
            <a:r>
              <a:rPr lang="en-US" dirty="0"/>
              <a:t>Descriptions</a:t>
            </a:r>
          </a:p>
          <a:p>
            <a:r>
              <a:rPr lang="en-US" dirty="0"/>
              <a:t>Specifications</a:t>
            </a:r>
          </a:p>
          <a:p>
            <a:r>
              <a:rPr lang="en-US" dirty="0"/>
              <a:t>Reviews</a:t>
            </a:r>
          </a:p>
        </p:txBody>
      </p:sp>
      <p:sp>
        <p:nvSpPr>
          <p:cNvPr id="7" name="Content Placeholder 6">
            <a:extLst>
              <a:ext uri="{FF2B5EF4-FFF2-40B4-BE49-F238E27FC236}">
                <a16:creationId xmlns:a16="http://schemas.microsoft.com/office/drawing/2014/main" id="{63F19D13-CF93-D3B0-B92A-11FC59AFE911}"/>
              </a:ext>
            </a:extLst>
          </p:cNvPr>
          <p:cNvSpPr>
            <a:spLocks noGrp="1"/>
          </p:cNvSpPr>
          <p:nvPr>
            <p:ph sz="half" idx="2"/>
          </p:nvPr>
        </p:nvSpPr>
        <p:spPr>
          <a:xfrm>
            <a:off x="5118447" y="3672162"/>
            <a:ext cx="3043408" cy="2383586"/>
          </a:xfrm>
        </p:spPr>
        <p:txBody>
          <a:bodyPr/>
          <a:lstStyle/>
          <a:p>
            <a:pPr marL="0" indent="0">
              <a:buNone/>
            </a:pPr>
            <a:r>
              <a:rPr lang="en-US" dirty="0"/>
              <a:t>3. Search Relevance</a:t>
            </a:r>
          </a:p>
          <a:p>
            <a:r>
              <a:rPr lang="en-US" dirty="0"/>
              <a:t>Query-result alignment</a:t>
            </a:r>
          </a:p>
          <a:p>
            <a:r>
              <a:rPr lang="en-US" dirty="0"/>
              <a:t>Product ranking</a:t>
            </a:r>
          </a:p>
        </p:txBody>
      </p:sp>
      <p:sp>
        <p:nvSpPr>
          <p:cNvPr id="13" name="TextBox 12">
            <a:extLst>
              <a:ext uri="{FF2B5EF4-FFF2-40B4-BE49-F238E27FC236}">
                <a16:creationId xmlns:a16="http://schemas.microsoft.com/office/drawing/2014/main" id="{56C3D611-2183-D965-C41C-7F4E481F1E85}"/>
              </a:ext>
            </a:extLst>
          </p:cNvPr>
          <p:cNvSpPr txBox="1"/>
          <p:nvPr/>
        </p:nvSpPr>
        <p:spPr>
          <a:xfrm>
            <a:off x="8161855" y="802252"/>
            <a:ext cx="2859931" cy="2238049"/>
          </a:xfrm>
          <a:prstGeom prst="rect">
            <a:avLst/>
          </a:prstGeom>
          <a:noFill/>
        </p:spPr>
        <p:txBody>
          <a:bodyPr wrap="square">
            <a:spAutoFit/>
          </a:bodyPr>
          <a:lstStyle/>
          <a:p>
            <a:pPr marL="0" marR="0" lvl="0" indent="0" algn="l" defTabSz="914400" rtl="0" eaLnBrk="1" fontAlgn="auto" latinLnBrk="0" hangingPunct="1">
              <a:lnSpc>
                <a:spcPct val="120000"/>
              </a:lnSpc>
              <a:spcBef>
                <a:spcPts val="1000"/>
              </a:spcBef>
              <a:spcAft>
                <a:spcPts val="0"/>
              </a:spcAft>
              <a:buClr>
                <a:srgbClr val="F81B02"/>
              </a:buClr>
              <a:buSzPct val="110000"/>
              <a:buFont typeface="Wingdings" panose="05000000000000000000" pitchFamily="2" charset="2"/>
              <a:buNone/>
              <a:tabLst/>
              <a:defRPr/>
            </a:pPr>
            <a:r>
              <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rPr>
              <a:t>. 2. Pricing &amp; Availability </a:t>
            </a:r>
          </a:p>
          <a:p>
            <a:pPr marL="228600" marR="0" lvl="0" indent="-228600" algn="l" defTabSz="914400" rtl="0" eaLnBrk="1" fontAlgn="auto" latinLnBrk="0" hangingPunct="1">
              <a:lnSpc>
                <a:spcPct val="120000"/>
              </a:lnSpc>
              <a:spcBef>
                <a:spcPts val="1000"/>
              </a:spcBef>
              <a:spcAft>
                <a:spcPts val="0"/>
              </a:spcAft>
              <a:buClr>
                <a:srgbClr val="F81B02"/>
              </a:buClr>
              <a:buSzPct val="110000"/>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rPr>
              <a:t>Price competitiveness</a:t>
            </a:r>
          </a:p>
          <a:p>
            <a:pPr marL="228600" marR="0" lvl="0" indent="-228600" algn="l" defTabSz="914400" rtl="0" eaLnBrk="1" fontAlgn="auto" latinLnBrk="0" hangingPunct="1">
              <a:lnSpc>
                <a:spcPct val="120000"/>
              </a:lnSpc>
              <a:spcBef>
                <a:spcPts val="1000"/>
              </a:spcBef>
              <a:spcAft>
                <a:spcPts val="0"/>
              </a:spcAft>
              <a:buClr>
                <a:srgbClr val="F81B02"/>
              </a:buClr>
              <a:buSzPct val="110000"/>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rPr>
              <a:t>Promotions</a:t>
            </a:r>
          </a:p>
          <a:p>
            <a:pPr marL="228600" marR="0" lvl="0" indent="-228600" algn="l" defTabSz="914400" rtl="0" eaLnBrk="1" fontAlgn="auto" latinLnBrk="0" hangingPunct="1">
              <a:lnSpc>
                <a:spcPct val="120000"/>
              </a:lnSpc>
              <a:spcBef>
                <a:spcPts val="1000"/>
              </a:spcBef>
              <a:spcAft>
                <a:spcPts val="0"/>
              </a:spcAft>
              <a:buClr>
                <a:srgbClr val="F81B02"/>
              </a:buClr>
              <a:buSzPct val="110000"/>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rPr>
              <a:t>Inventory</a:t>
            </a:r>
          </a:p>
          <a:p>
            <a:pPr marR="0" lvl="0" algn="l" defTabSz="914400" rtl="0" eaLnBrk="1" fontAlgn="auto" latinLnBrk="0" hangingPunct="1">
              <a:lnSpc>
                <a:spcPct val="120000"/>
              </a:lnSpc>
              <a:spcBef>
                <a:spcPts val="1000"/>
              </a:spcBef>
              <a:spcAft>
                <a:spcPts val="0"/>
              </a:spcAft>
              <a:buClr>
                <a:srgbClr val="F81B02"/>
              </a:buClr>
              <a:buSzPct val="110000"/>
              <a:tabLst/>
              <a:defRPr/>
            </a:pPr>
            <a:endPar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endParaRPr>
          </a:p>
        </p:txBody>
      </p:sp>
      <p:sp>
        <p:nvSpPr>
          <p:cNvPr id="15" name="TextBox 14">
            <a:extLst>
              <a:ext uri="{FF2B5EF4-FFF2-40B4-BE49-F238E27FC236}">
                <a16:creationId xmlns:a16="http://schemas.microsoft.com/office/drawing/2014/main" id="{5E938C01-F52F-8F38-42F7-D0F3D3ED107D}"/>
              </a:ext>
            </a:extLst>
          </p:cNvPr>
          <p:cNvSpPr txBox="1"/>
          <p:nvPr/>
        </p:nvSpPr>
        <p:spPr>
          <a:xfrm>
            <a:off x="8474529" y="3672162"/>
            <a:ext cx="3249385" cy="2109808"/>
          </a:xfrm>
          <a:prstGeom prst="rect">
            <a:avLst/>
          </a:prstGeom>
          <a:noFill/>
        </p:spPr>
        <p:txBody>
          <a:bodyPr wrap="square">
            <a:spAutoFit/>
          </a:bodyPr>
          <a:lstStyle/>
          <a:p>
            <a:pPr marL="0" marR="0" lvl="0" indent="0" algn="l" defTabSz="914400" rtl="0" eaLnBrk="1" fontAlgn="auto" latinLnBrk="0" hangingPunct="1">
              <a:lnSpc>
                <a:spcPct val="120000"/>
              </a:lnSpc>
              <a:spcBef>
                <a:spcPts val="1000"/>
              </a:spcBef>
              <a:spcAft>
                <a:spcPts val="0"/>
              </a:spcAft>
              <a:buClr>
                <a:srgbClr val="F81B02"/>
              </a:buClr>
              <a:buSzPct val="110000"/>
              <a:buFont typeface="Wingdings" panose="05000000000000000000" pitchFamily="2" charset="2"/>
              <a:buNone/>
              <a:tabLst/>
              <a:defRPr/>
            </a:pPr>
            <a:r>
              <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rPr>
              <a:t>4. Fulfillment &amp; Purchase Experience</a:t>
            </a:r>
          </a:p>
          <a:p>
            <a:pPr marL="228600" marR="0" lvl="0" indent="-228600" algn="l" defTabSz="914400" rtl="0" eaLnBrk="1" fontAlgn="auto" latinLnBrk="0" hangingPunct="1">
              <a:lnSpc>
                <a:spcPct val="120000"/>
              </a:lnSpc>
              <a:spcBef>
                <a:spcPts val="1000"/>
              </a:spcBef>
              <a:spcAft>
                <a:spcPts val="0"/>
              </a:spcAft>
              <a:buClr>
                <a:srgbClr val="F81B02"/>
              </a:buClr>
              <a:buSzPct val="110000"/>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rPr>
              <a:t>Shipping</a:t>
            </a:r>
          </a:p>
          <a:p>
            <a:pPr marL="228600" marR="0" lvl="0" indent="-228600" algn="l" defTabSz="914400" rtl="0" eaLnBrk="1" fontAlgn="auto" latinLnBrk="0" hangingPunct="1">
              <a:lnSpc>
                <a:spcPct val="120000"/>
              </a:lnSpc>
              <a:spcBef>
                <a:spcPts val="1000"/>
              </a:spcBef>
              <a:spcAft>
                <a:spcPts val="0"/>
              </a:spcAft>
              <a:buClr>
                <a:srgbClr val="F81B02"/>
              </a:buClr>
              <a:buSzPct val="110000"/>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rPr>
              <a:t>Delivery</a:t>
            </a:r>
          </a:p>
          <a:p>
            <a:pPr marL="228600" marR="0" lvl="0" indent="-228600" algn="l" defTabSz="914400" rtl="0" eaLnBrk="1" fontAlgn="auto" latinLnBrk="0" hangingPunct="1">
              <a:lnSpc>
                <a:spcPct val="120000"/>
              </a:lnSpc>
              <a:spcBef>
                <a:spcPts val="1000"/>
              </a:spcBef>
              <a:spcAft>
                <a:spcPts val="0"/>
              </a:spcAft>
              <a:buClr>
                <a:srgbClr val="F81B02"/>
              </a:buClr>
              <a:buSzPct val="110000"/>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rPr>
              <a:t>Checkout</a:t>
            </a:r>
          </a:p>
        </p:txBody>
      </p:sp>
    </p:spTree>
    <p:extLst>
      <p:ext uri="{BB962C8B-B14F-4D97-AF65-F5344CB8AC3E}">
        <p14:creationId xmlns:p14="http://schemas.microsoft.com/office/powerpoint/2010/main" val="1994286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EA523-1877-32EC-14A8-5B9F3AF736C7}"/>
              </a:ext>
            </a:extLst>
          </p:cNvPr>
          <p:cNvSpPr>
            <a:spLocks noGrp="1"/>
          </p:cNvSpPr>
          <p:nvPr>
            <p:ph type="title" idx="4294967295"/>
          </p:nvPr>
        </p:nvSpPr>
        <p:spPr>
          <a:xfrm>
            <a:off x="0" y="130175"/>
            <a:ext cx="5532438" cy="1187450"/>
          </a:xfrm>
        </p:spPr>
        <p:txBody>
          <a:bodyPr>
            <a:normAutofit/>
          </a:bodyPr>
          <a:lstStyle/>
          <a:p>
            <a:r>
              <a:rPr lang="en-US" dirty="0"/>
              <a:t>From Insight to Action</a:t>
            </a:r>
          </a:p>
        </p:txBody>
      </p:sp>
      <p:sp>
        <p:nvSpPr>
          <p:cNvPr id="3" name="Content Placeholder 2">
            <a:extLst>
              <a:ext uri="{FF2B5EF4-FFF2-40B4-BE49-F238E27FC236}">
                <a16:creationId xmlns:a16="http://schemas.microsoft.com/office/drawing/2014/main" id="{0CDEC502-6FD3-045B-7F7D-6FA8051B0FBD}"/>
              </a:ext>
            </a:extLst>
          </p:cNvPr>
          <p:cNvSpPr>
            <a:spLocks noGrp="1"/>
          </p:cNvSpPr>
          <p:nvPr>
            <p:ph sz="half" idx="4294967295"/>
          </p:nvPr>
        </p:nvSpPr>
        <p:spPr>
          <a:xfrm>
            <a:off x="5922963" y="541338"/>
            <a:ext cx="6269037" cy="1187450"/>
          </a:xfrm>
        </p:spPr>
        <p:txBody>
          <a:bodyPr/>
          <a:lstStyle/>
          <a:p>
            <a:pPr marL="0" marR="0" lvl="0" indent="0" algn="l" defTabSz="914400" rtl="0" eaLnBrk="1" fontAlgn="auto" latinLnBrk="0" hangingPunct="1">
              <a:lnSpc>
                <a:spcPct val="120000"/>
              </a:lnSpc>
              <a:spcBef>
                <a:spcPts val="1000"/>
              </a:spcBef>
              <a:spcAft>
                <a:spcPts val="0"/>
              </a:spcAft>
              <a:buClr>
                <a:srgbClr val="F81B02"/>
              </a:buClr>
              <a:buSzPct val="110000"/>
              <a:buNone/>
              <a:tabLst/>
              <a:defRPr/>
            </a:pPr>
            <a:r>
              <a:rPr lang="en-US" dirty="0">
                <a:solidFill>
                  <a:prstClr val="black"/>
                </a:solidFill>
                <a:latin typeface="Rockwell" panose="02060603020205020403"/>
              </a:rPr>
              <a:t>1 </a:t>
            </a:r>
            <a:r>
              <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rPr>
              <a:t>- Prioritize</a:t>
            </a:r>
          </a:p>
          <a:p>
            <a:pPr marL="228600" marR="0" lvl="0" indent="-228600" algn="l" defTabSz="914400" rtl="0" eaLnBrk="1" fontAlgn="auto" latinLnBrk="0" hangingPunct="1">
              <a:lnSpc>
                <a:spcPct val="120000"/>
              </a:lnSpc>
              <a:spcBef>
                <a:spcPts val="1000"/>
              </a:spcBef>
              <a:spcAft>
                <a:spcPts val="0"/>
              </a:spcAft>
              <a:buClr>
                <a:srgbClr val="F81B02"/>
              </a:buClr>
              <a:buSzPct val="110000"/>
              <a:buFont typeface="Wingdings" panose="05000000000000000000" pitchFamily="2" charset="2"/>
              <a:buChar char="§"/>
              <a:tabLst/>
              <a:defRPr/>
            </a:pPr>
            <a:r>
              <a:rPr lang="en-US" dirty="0">
                <a:solidFill>
                  <a:prstClr val="black"/>
                </a:solidFill>
                <a:latin typeface="Rockwell" panose="02060603020205020403"/>
              </a:rPr>
              <a:t>Identify high-engagement / low-Purchase-Share segments.</a:t>
            </a:r>
            <a:endPar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endParaRPr>
          </a:p>
        </p:txBody>
      </p:sp>
      <p:sp>
        <p:nvSpPr>
          <p:cNvPr id="4" name="Content Placeholder 3">
            <a:extLst>
              <a:ext uri="{FF2B5EF4-FFF2-40B4-BE49-F238E27FC236}">
                <a16:creationId xmlns:a16="http://schemas.microsoft.com/office/drawing/2014/main" id="{29ABDD36-0B23-C6CD-77F7-6860C7982B7A}"/>
              </a:ext>
            </a:extLst>
          </p:cNvPr>
          <p:cNvSpPr>
            <a:spLocks noGrp="1"/>
          </p:cNvSpPr>
          <p:nvPr>
            <p:ph sz="half" idx="4294967295"/>
          </p:nvPr>
        </p:nvSpPr>
        <p:spPr>
          <a:xfrm>
            <a:off x="6096000" y="4767263"/>
            <a:ext cx="6096000" cy="1797050"/>
          </a:xfrm>
        </p:spPr>
        <p:txBody>
          <a:bodyPr/>
          <a:lstStyle/>
          <a:p>
            <a:pPr marL="0" indent="0">
              <a:buNone/>
            </a:pPr>
            <a:r>
              <a:rPr lang="en-US" dirty="0"/>
              <a:t>3 – Test</a:t>
            </a:r>
          </a:p>
          <a:p>
            <a:r>
              <a:rPr lang="en-US" dirty="0"/>
              <a:t>Implement targeted changes and measure results</a:t>
            </a:r>
          </a:p>
        </p:txBody>
      </p:sp>
      <p:sp>
        <p:nvSpPr>
          <p:cNvPr id="6" name="TextBox 5">
            <a:extLst>
              <a:ext uri="{FF2B5EF4-FFF2-40B4-BE49-F238E27FC236}">
                <a16:creationId xmlns:a16="http://schemas.microsoft.com/office/drawing/2014/main" id="{7AE10DEC-6F82-4722-B582-DB61A67F3C24}"/>
              </a:ext>
            </a:extLst>
          </p:cNvPr>
          <p:cNvSpPr txBox="1"/>
          <p:nvPr/>
        </p:nvSpPr>
        <p:spPr>
          <a:xfrm>
            <a:off x="5922963" y="2528891"/>
            <a:ext cx="6118818" cy="1234141"/>
          </a:xfrm>
          <a:prstGeom prst="rect">
            <a:avLst/>
          </a:prstGeom>
          <a:noFill/>
        </p:spPr>
        <p:txBody>
          <a:bodyPr wrap="square">
            <a:spAutoFit/>
          </a:bodyPr>
          <a:lstStyle/>
          <a:p>
            <a:pPr marR="0" lvl="0" algn="l" defTabSz="914400" rtl="0" eaLnBrk="1" fontAlgn="auto" latinLnBrk="0" hangingPunct="1">
              <a:lnSpc>
                <a:spcPct val="120000"/>
              </a:lnSpc>
              <a:spcBef>
                <a:spcPts val="1000"/>
              </a:spcBef>
              <a:spcAft>
                <a:spcPts val="0"/>
              </a:spcAft>
              <a:buClr>
                <a:srgbClr val="F81B02"/>
              </a:buClr>
              <a:buSzPct val="110000"/>
              <a:tabLst/>
              <a:defRPr/>
            </a:pPr>
            <a:r>
              <a:rPr lang="en-US" dirty="0">
                <a:solidFill>
                  <a:prstClr val="black"/>
                </a:solidFill>
                <a:latin typeface="Rockwell" panose="02060603020205020403"/>
              </a:rPr>
              <a:t>2 </a:t>
            </a:r>
            <a:r>
              <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rPr>
              <a:t>- Diagnose</a:t>
            </a:r>
          </a:p>
          <a:p>
            <a:pPr marL="228600" marR="0" lvl="0" indent="-228600" algn="l" defTabSz="914400" rtl="0" eaLnBrk="1" fontAlgn="auto" latinLnBrk="0" hangingPunct="1">
              <a:lnSpc>
                <a:spcPct val="120000"/>
              </a:lnSpc>
              <a:spcBef>
                <a:spcPts val="1000"/>
              </a:spcBef>
              <a:spcAft>
                <a:spcPts val="0"/>
              </a:spcAft>
              <a:buClr>
                <a:srgbClr val="F81B02"/>
              </a:buClr>
              <a:buSzPct val="110000"/>
              <a:buFont typeface="Wingdings" panose="05000000000000000000" pitchFamily="2" charset="2"/>
              <a:buChar char="§"/>
              <a:tabLst/>
              <a:defRPr/>
            </a:pPr>
            <a:r>
              <a:rPr lang="en-US" dirty="0">
                <a:solidFill>
                  <a:prstClr val="black"/>
                </a:solidFill>
                <a:latin typeface="Rockwell" panose="02060603020205020403"/>
              </a:rPr>
              <a:t>Investigate product, search, pricing, inventory and fulfillment factors.</a:t>
            </a:r>
            <a:endPar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endParaRPr>
          </a:p>
        </p:txBody>
      </p:sp>
      <p:pic>
        <p:nvPicPr>
          <p:cNvPr id="8" name="Picture 7">
            <a:extLst>
              <a:ext uri="{FF2B5EF4-FFF2-40B4-BE49-F238E27FC236}">
                <a16:creationId xmlns:a16="http://schemas.microsoft.com/office/drawing/2014/main" id="{022C43C6-A063-D1EA-F30D-644C04A102D9}"/>
              </a:ext>
            </a:extLst>
          </p:cNvPr>
          <p:cNvPicPr>
            <a:picLocks noChangeAspect="1"/>
          </p:cNvPicPr>
          <p:nvPr/>
        </p:nvPicPr>
        <p:blipFill>
          <a:blip r:embed="rId3"/>
          <a:stretch>
            <a:fillRect/>
          </a:stretch>
        </p:blipFill>
        <p:spPr>
          <a:xfrm>
            <a:off x="150219" y="1584959"/>
            <a:ext cx="5532124" cy="3688082"/>
          </a:xfrm>
          <a:prstGeom prst="rect">
            <a:avLst/>
          </a:prstGeom>
        </p:spPr>
      </p:pic>
    </p:spTree>
    <p:extLst>
      <p:ext uri="{BB962C8B-B14F-4D97-AF65-F5344CB8AC3E}">
        <p14:creationId xmlns:p14="http://schemas.microsoft.com/office/powerpoint/2010/main" val="1418784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41B79-8574-9486-4075-5EAE3F392DEE}"/>
              </a:ext>
            </a:extLst>
          </p:cNvPr>
          <p:cNvSpPr>
            <a:spLocks noGrp="1"/>
          </p:cNvSpPr>
          <p:nvPr>
            <p:ph type="title"/>
          </p:nvPr>
        </p:nvSpPr>
        <p:spPr/>
        <p:txBody>
          <a:bodyPr/>
          <a:lstStyle/>
          <a:p>
            <a:r>
              <a:rPr lang="en-US" dirty="0"/>
              <a:t>What Would Unlock Deeper Analysis?</a:t>
            </a:r>
          </a:p>
        </p:txBody>
      </p:sp>
      <p:sp>
        <p:nvSpPr>
          <p:cNvPr id="5" name="Content Placeholder 4">
            <a:extLst>
              <a:ext uri="{FF2B5EF4-FFF2-40B4-BE49-F238E27FC236}">
                <a16:creationId xmlns:a16="http://schemas.microsoft.com/office/drawing/2014/main" id="{DCAC9247-2DDE-5277-DFDD-ECA1BBC2036C}"/>
              </a:ext>
            </a:extLst>
          </p:cNvPr>
          <p:cNvSpPr>
            <a:spLocks noGrp="1"/>
          </p:cNvSpPr>
          <p:nvPr>
            <p:ph idx="1"/>
          </p:nvPr>
        </p:nvSpPr>
        <p:spPr/>
        <p:txBody>
          <a:bodyPr>
            <a:normAutofit fontScale="92500" lnSpcReduction="10000"/>
          </a:bodyPr>
          <a:lstStyle/>
          <a:p>
            <a:r>
              <a:rPr lang="en-US" dirty="0"/>
              <a:t>Search Impressions</a:t>
            </a:r>
          </a:p>
          <a:p>
            <a:r>
              <a:rPr lang="en-US" dirty="0"/>
              <a:t>Search-result positions</a:t>
            </a:r>
          </a:p>
          <a:p>
            <a:r>
              <a:rPr lang="en-US" dirty="0"/>
              <a:t>Timestamps</a:t>
            </a:r>
          </a:p>
          <a:p>
            <a:r>
              <a:rPr lang="en-US" dirty="0"/>
              <a:t>Privacy-protected session IDs</a:t>
            </a:r>
          </a:p>
          <a:p>
            <a:r>
              <a:rPr lang="en-US" dirty="0"/>
              <a:t>Linked cart, checkout and order data</a:t>
            </a:r>
          </a:p>
          <a:p>
            <a:r>
              <a:rPr lang="en-US" dirty="0"/>
              <a:t>Price &amp; discounts</a:t>
            </a:r>
          </a:p>
          <a:p>
            <a:r>
              <a:rPr lang="en-US" dirty="0"/>
              <a:t>Inventory</a:t>
            </a:r>
          </a:p>
          <a:p>
            <a:r>
              <a:rPr lang="en-US" dirty="0"/>
              <a:t>Shipping &amp; delivery information</a:t>
            </a:r>
          </a:p>
          <a:p>
            <a:r>
              <a:rPr lang="en-US" dirty="0"/>
              <a:t>Returns &amp; cancellations</a:t>
            </a:r>
          </a:p>
          <a:p>
            <a:r>
              <a:rPr lang="en-US" dirty="0"/>
              <a:t>Customer feedback</a:t>
            </a:r>
          </a:p>
          <a:p>
            <a:pPr marL="0" indent="0">
              <a:buNone/>
            </a:pPr>
            <a:endParaRPr lang="en-US" dirty="0"/>
          </a:p>
          <a:p>
            <a:pPr marL="0" indent="0">
              <a:buNone/>
            </a:pPr>
            <a:r>
              <a:rPr lang="en-US" b="1" dirty="0"/>
              <a:t>Current data tells us where to look. Additional data can help explain WHY.</a:t>
            </a:r>
          </a:p>
        </p:txBody>
      </p:sp>
    </p:spTree>
    <p:extLst>
      <p:ext uri="{BB962C8B-B14F-4D97-AF65-F5344CB8AC3E}">
        <p14:creationId xmlns:p14="http://schemas.microsoft.com/office/powerpoint/2010/main" val="2853681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96438B-CD5F-CBF5-3F3D-30F1B25E93B1}"/>
              </a:ext>
            </a:extLst>
          </p:cNvPr>
          <p:cNvSpPr>
            <a:spLocks noGrp="1"/>
          </p:cNvSpPr>
          <p:nvPr>
            <p:ph type="title"/>
          </p:nvPr>
        </p:nvSpPr>
        <p:spPr/>
        <p:txBody>
          <a:bodyPr/>
          <a:lstStyle/>
          <a:p>
            <a:r>
              <a:rPr lang="en-US" dirty="0"/>
              <a:t>Limitations and Decision Boundaries</a:t>
            </a:r>
          </a:p>
        </p:txBody>
      </p:sp>
      <p:sp>
        <p:nvSpPr>
          <p:cNvPr id="5" name="Text Placeholder 4">
            <a:extLst>
              <a:ext uri="{FF2B5EF4-FFF2-40B4-BE49-F238E27FC236}">
                <a16:creationId xmlns:a16="http://schemas.microsoft.com/office/drawing/2014/main" id="{53F5B35E-4B37-5903-3191-AB650040F0FA}"/>
              </a:ext>
            </a:extLst>
          </p:cNvPr>
          <p:cNvSpPr>
            <a:spLocks noGrp="1"/>
          </p:cNvSpPr>
          <p:nvPr>
            <p:ph type="body" idx="1"/>
          </p:nvPr>
        </p:nvSpPr>
        <p:spPr/>
        <p:txBody>
          <a:bodyPr/>
          <a:lstStyle/>
          <a:p>
            <a:r>
              <a:rPr lang="en-US" dirty="0"/>
              <a:t>What The Analysis Supports</a:t>
            </a:r>
          </a:p>
        </p:txBody>
      </p:sp>
      <p:sp>
        <p:nvSpPr>
          <p:cNvPr id="6" name="Content Placeholder 5">
            <a:extLst>
              <a:ext uri="{FF2B5EF4-FFF2-40B4-BE49-F238E27FC236}">
                <a16:creationId xmlns:a16="http://schemas.microsoft.com/office/drawing/2014/main" id="{45875A9A-5A73-5129-58A8-F5E9F434ED28}"/>
              </a:ext>
            </a:extLst>
          </p:cNvPr>
          <p:cNvSpPr>
            <a:spLocks noGrp="1"/>
          </p:cNvSpPr>
          <p:nvPr>
            <p:ph sz="half" idx="2"/>
          </p:nvPr>
        </p:nvSpPr>
        <p:spPr/>
        <p:txBody>
          <a:bodyPr>
            <a:normAutofit fontScale="85000" lnSpcReduction="20000"/>
          </a:bodyPr>
          <a:lstStyle/>
          <a:p>
            <a:pPr>
              <a:buFont typeface="Wingdings" pitchFamily="2" charset="2"/>
              <a:buChar char="ü"/>
            </a:pPr>
            <a:r>
              <a:rPr lang="en-US" dirty="0"/>
              <a:t>Performance comparison</a:t>
            </a:r>
          </a:p>
          <a:p>
            <a:pPr>
              <a:buFont typeface="Wingdings" pitchFamily="2" charset="2"/>
              <a:buChar char="ü"/>
            </a:pPr>
            <a:r>
              <a:rPr lang="en-US" dirty="0"/>
              <a:t>Pattern identification</a:t>
            </a:r>
          </a:p>
          <a:p>
            <a:pPr>
              <a:buFont typeface="Wingdings" pitchFamily="2" charset="2"/>
              <a:buChar char="ü"/>
            </a:pPr>
            <a:r>
              <a:rPr lang="en-US" dirty="0"/>
              <a:t>Opportunity prioritization</a:t>
            </a:r>
          </a:p>
          <a:p>
            <a:pPr>
              <a:buFont typeface="Wingdings" pitchFamily="2" charset="2"/>
              <a:buChar char="ü"/>
            </a:pPr>
            <a:r>
              <a:rPr lang="en-US" dirty="0"/>
              <a:t>Hypothesis development</a:t>
            </a:r>
          </a:p>
        </p:txBody>
      </p:sp>
      <p:sp>
        <p:nvSpPr>
          <p:cNvPr id="7" name="Text Placeholder 6">
            <a:extLst>
              <a:ext uri="{FF2B5EF4-FFF2-40B4-BE49-F238E27FC236}">
                <a16:creationId xmlns:a16="http://schemas.microsoft.com/office/drawing/2014/main" id="{E237A87F-1599-844A-1A27-364CFF4EB541}"/>
              </a:ext>
            </a:extLst>
          </p:cNvPr>
          <p:cNvSpPr>
            <a:spLocks noGrp="1"/>
          </p:cNvSpPr>
          <p:nvPr>
            <p:ph type="body" sz="quarter" idx="3"/>
          </p:nvPr>
        </p:nvSpPr>
        <p:spPr/>
        <p:txBody>
          <a:bodyPr/>
          <a:lstStyle/>
          <a:p>
            <a:r>
              <a:rPr lang="en-US" dirty="0"/>
              <a:t>What it does not establish</a:t>
            </a:r>
          </a:p>
        </p:txBody>
      </p:sp>
      <p:sp>
        <p:nvSpPr>
          <p:cNvPr id="8" name="Content Placeholder 7">
            <a:extLst>
              <a:ext uri="{FF2B5EF4-FFF2-40B4-BE49-F238E27FC236}">
                <a16:creationId xmlns:a16="http://schemas.microsoft.com/office/drawing/2014/main" id="{17AE645C-5E5A-2074-5E23-F8F419E160CC}"/>
              </a:ext>
            </a:extLst>
          </p:cNvPr>
          <p:cNvSpPr>
            <a:spLocks noGrp="1"/>
          </p:cNvSpPr>
          <p:nvPr>
            <p:ph sz="quarter" idx="4"/>
          </p:nvPr>
        </p:nvSpPr>
        <p:spPr>
          <a:xfrm>
            <a:off x="5118447" y="4351687"/>
            <a:ext cx="6885984" cy="2176902"/>
          </a:xfrm>
        </p:spPr>
        <p:txBody>
          <a:bodyPr>
            <a:normAutofit fontScale="85000" lnSpcReduction="20000"/>
          </a:bodyPr>
          <a:lstStyle/>
          <a:p>
            <a:pPr>
              <a:buFont typeface="System Font Regular"/>
              <a:buChar char="x"/>
            </a:pPr>
            <a:r>
              <a:rPr lang="en-US" dirty="0"/>
              <a:t>Traditional conversion rates</a:t>
            </a:r>
          </a:p>
          <a:p>
            <a:pPr>
              <a:buFont typeface="System Font Regular"/>
              <a:buChar char="x"/>
            </a:pPr>
            <a:r>
              <a:rPr lang="en-US" dirty="0"/>
              <a:t>Customer abandonment</a:t>
            </a:r>
          </a:p>
          <a:p>
            <a:pPr>
              <a:buFont typeface="System Font Regular"/>
              <a:buChar char="x"/>
            </a:pPr>
            <a:r>
              <a:rPr lang="en-US" dirty="0"/>
              <a:t>Complete customer journey</a:t>
            </a:r>
          </a:p>
          <a:p>
            <a:pPr>
              <a:buFont typeface="System Font Regular"/>
              <a:buChar char="x"/>
            </a:pPr>
            <a:r>
              <a:rPr lang="en-US" dirty="0"/>
              <a:t>Causality</a:t>
            </a:r>
          </a:p>
          <a:p>
            <a:pPr>
              <a:buFont typeface="System Font Regular"/>
              <a:buChar char="x"/>
            </a:pPr>
            <a:r>
              <a:rPr lang="en-US" dirty="0"/>
              <a:t>Lost revenue or ROI</a:t>
            </a:r>
          </a:p>
          <a:p>
            <a:pPr>
              <a:buFont typeface="System Font Regular"/>
              <a:buChar char="x"/>
            </a:pPr>
            <a:r>
              <a:rPr lang="en-US" dirty="0"/>
              <a:t>Seasonal effects</a:t>
            </a:r>
          </a:p>
        </p:txBody>
      </p:sp>
    </p:spTree>
    <p:extLst>
      <p:ext uri="{BB962C8B-B14F-4D97-AF65-F5344CB8AC3E}">
        <p14:creationId xmlns:p14="http://schemas.microsoft.com/office/powerpoint/2010/main" val="370437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0633E0D-F594-ED6E-5B0C-76153CEE9A2C}"/>
              </a:ext>
            </a:extLst>
          </p:cNvPr>
          <p:cNvSpPr>
            <a:spLocks noGrp="1"/>
          </p:cNvSpPr>
          <p:nvPr>
            <p:ph type="title"/>
          </p:nvPr>
        </p:nvSpPr>
        <p:spPr/>
        <p:txBody>
          <a:bodyPr>
            <a:normAutofit fontScale="90000"/>
          </a:bodyPr>
          <a:lstStyle/>
          <a:p>
            <a:r>
              <a:rPr lang="en-US" dirty="0"/>
              <a:t>The Analysis Identifies Where </a:t>
            </a:r>
            <a:r>
              <a:rPr lang="en-US" dirty="0" err="1"/>
              <a:t>JD.com</a:t>
            </a:r>
            <a:r>
              <a:rPr lang="en-US" dirty="0"/>
              <a:t> Should Look Next</a:t>
            </a:r>
          </a:p>
        </p:txBody>
      </p:sp>
      <p:sp>
        <p:nvSpPr>
          <p:cNvPr id="8" name="Content Placeholder 7">
            <a:extLst>
              <a:ext uri="{FF2B5EF4-FFF2-40B4-BE49-F238E27FC236}">
                <a16:creationId xmlns:a16="http://schemas.microsoft.com/office/drawing/2014/main" id="{BCB8E6FF-4BDF-9E29-5B08-4016046F8796}"/>
              </a:ext>
            </a:extLst>
          </p:cNvPr>
          <p:cNvSpPr>
            <a:spLocks noGrp="1"/>
          </p:cNvSpPr>
          <p:nvPr>
            <p:ph idx="1"/>
          </p:nvPr>
        </p:nvSpPr>
        <p:spPr/>
        <p:txBody>
          <a:bodyPr/>
          <a:lstStyle/>
          <a:p>
            <a:pPr>
              <a:buFont typeface="Wingdings" pitchFamily="2" charset="2"/>
              <a:buChar char="Ø"/>
            </a:pPr>
            <a:r>
              <a:rPr lang="en-US" b="1" dirty="0"/>
              <a:t>320,132</a:t>
            </a:r>
            <a:r>
              <a:rPr lang="en-US" dirty="0"/>
              <a:t> Positive Interactions Analyzed</a:t>
            </a:r>
          </a:p>
          <a:p>
            <a:pPr>
              <a:buFont typeface="Wingdings" pitchFamily="2" charset="2"/>
              <a:buChar char="Ø"/>
            </a:pPr>
            <a:r>
              <a:rPr lang="en-US" b="1" dirty="0"/>
              <a:t>6.50% </a:t>
            </a:r>
            <a:r>
              <a:rPr lang="en-US" dirty="0"/>
              <a:t>Overall Purchase Share Benchmark</a:t>
            </a:r>
          </a:p>
          <a:p>
            <a:pPr>
              <a:buFont typeface="Wingdings" pitchFamily="2" charset="2"/>
              <a:buChar char="Ø"/>
            </a:pPr>
            <a:r>
              <a:rPr lang="en-US" b="1" dirty="0"/>
              <a:t>Priority Segments </a:t>
            </a:r>
            <a:r>
              <a:rPr lang="en-US" dirty="0"/>
              <a:t>identified through engagement + Purchase Share</a:t>
            </a:r>
          </a:p>
          <a:p>
            <a:pPr>
              <a:buFont typeface="Wingdings" pitchFamily="2" charset="2"/>
              <a:buChar char="Ø"/>
            </a:pPr>
            <a:r>
              <a:rPr lang="en-US" b="1" dirty="0"/>
              <a:t>Recommended Next Decision </a:t>
            </a:r>
            <a:r>
              <a:rPr lang="en-US" dirty="0"/>
              <a:t>Select priority segments &gt; acquire supporting data &gt; diagnose &gt; test intervention</a:t>
            </a:r>
            <a:endParaRPr lang="en-US" b="1" dirty="0"/>
          </a:p>
        </p:txBody>
      </p:sp>
    </p:spTree>
    <p:extLst>
      <p:ext uri="{BB962C8B-B14F-4D97-AF65-F5344CB8AC3E}">
        <p14:creationId xmlns:p14="http://schemas.microsoft.com/office/powerpoint/2010/main" val="441588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E80B12-F006-1A32-FE0F-860F03F14AC7}"/>
              </a:ext>
            </a:extLst>
          </p:cNvPr>
          <p:cNvSpPr txBox="1"/>
          <p:nvPr/>
        </p:nvSpPr>
        <p:spPr>
          <a:xfrm>
            <a:off x="4736124" y="422031"/>
            <a:ext cx="2309896" cy="523220"/>
          </a:xfrm>
          <a:prstGeom prst="rect">
            <a:avLst/>
          </a:prstGeom>
          <a:noFill/>
        </p:spPr>
        <p:txBody>
          <a:bodyPr wrap="square" rtlCol="0">
            <a:spAutoFit/>
          </a:bodyPr>
          <a:lstStyle/>
          <a:p>
            <a:r>
              <a:rPr lang="en-US" sz="2800" b="1" dirty="0">
                <a:latin typeface="+mj-lt"/>
              </a:rPr>
              <a:t>Appendix A</a:t>
            </a:r>
          </a:p>
        </p:txBody>
      </p:sp>
      <p:sp>
        <p:nvSpPr>
          <p:cNvPr id="5" name="TextBox 4">
            <a:extLst>
              <a:ext uri="{FF2B5EF4-FFF2-40B4-BE49-F238E27FC236}">
                <a16:creationId xmlns:a16="http://schemas.microsoft.com/office/drawing/2014/main" id="{762B52E5-7DD2-1B7C-D478-6FDA88240C2F}"/>
              </a:ext>
            </a:extLst>
          </p:cNvPr>
          <p:cNvSpPr txBox="1"/>
          <p:nvPr/>
        </p:nvSpPr>
        <p:spPr>
          <a:xfrm>
            <a:off x="375137" y="1461066"/>
            <a:ext cx="10996248" cy="923330"/>
          </a:xfrm>
          <a:prstGeom prst="rect">
            <a:avLst/>
          </a:prstGeom>
          <a:noFill/>
        </p:spPr>
        <p:txBody>
          <a:bodyPr wrap="square" rtlCol="0">
            <a:spAutoFit/>
          </a:bodyPr>
          <a:lstStyle/>
          <a:p>
            <a:r>
              <a:rPr lang="en-US" dirty="0"/>
              <a:t>Raw Dataset &gt; Python (cleaning &amp; EDA) &gt; PostgreSQL / SQL (analysis &amp; validation) &gt; Tableau (visualization &gt; Business Recommendations</a:t>
            </a:r>
          </a:p>
          <a:p>
            <a:endParaRPr lang="en-US" dirty="0"/>
          </a:p>
        </p:txBody>
      </p:sp>
      <p:sp>
        <p:nvSpPr>
          <p:cNvPr id="7" name="TextBox 6">
            <a:extLst>
              <a:ext uri="{FF2B5EF4-FFF2-40B4-BE49-F238E27FC236}">
                <a16:creationId xmlns:a16="http://schemas.microsoft.com/office/drawing/2014/main" id="{8BE0531A-E719-B496-1033-467DAF6B4805}"/>
              </a:ext>
            </a:extLst>
          </p:cNvPr>
          <p:cNvSpPr txBox="1"/>
          <p:nvPr/>
        </p:nvSpPr>
        <p:spPr>
          <a:xfrm>
            <a:off x="633046" y="3024554"/>
            <a:ext cx="11019692" cy="1754326"/>
          </a:xfrm>
          <a:prstGeom prst="rect">
            <a:avLst/>
          </a:prstGeom>
          <a:noFill/>
        </p:spPr>
        <p:txBody>
          <a:bodyPr wrap="square" rtlCol="0">
            <a:spAutoFit/>
          </a:bodyPr>
          <a:lstStyle/>
          <a:p>
            <a:r>
              <a:rPr lang="en-US" b="1" dirty="0"/>
              <a:t>Quality Checks</a:t>
            </a:r>
          </a:p>
          <a:p>
            <a:pPr marL="285750" indent="-285750">
              <a:buFont typeface="Wingdings" pitchFamily="2" charset="2"/>
              <a:buChar char="v"/>
            </a:pPr>
            <a:r>
              <a:rPr lang="en-US" dirty="0"/>
              <a:t>320,132 records validated</a:t>
            </a:r>
          </a:p>
          <a:p>
            <a:pPr marL="285750" indent="-285750">
              <a:buFont typeface="Wingdings" pitchFamily="2" charset="2"/>
              <a:buChar char="v"/>
            </a:pPr>
            <a:r>
              <a:rPr lang="en-US" dirty="0"/>
              <a:t>0 derived-field inconsistencies</a:t>
            </a:r>
          </a:p>
          <a:p>
            <a:pPr marL="285750" indent="-285750">
              <a:buFont typeface="Wingdings" pitchFamily="2" charset="2"/>
              <a:buChar char="v"/>
            </a:pPr>
            <a:r>
              <a:rPr lang="en-US" dirty="0"/>
              <a:t>16,575 exact duplicate rows identified</a:t>
            </a:r>
          </a:p>
          <a:p>
            <a:pPr marL="285750" indent="-285750">
              <a:buFont typeface="Wingdings" pitchFamily="2" charset="2"/>
              <a:buChar char="v"/>
            </a:pPr>
            <a:r>
              <a:rPr lang="en-US" dirty="0"/>
              <a:t>Duplicate sensitivity analysis performed</a:t>
            </a:r>
          </a:p>
          <a:p>
            <a:pPr marL="285750" indent="-285750">
              <a:buFont typeface="Wingdings" pitchFamily="2" charset="2"/>
              <a:buChar char="v"/>
            </a:pPr>
            <a:r>
              <a:rPr lang="en-US" dirty="0"/>
              <a:t>SQL / Python headline metrics reconciled</a:t>
            </a:r>
          </a:p>
        </p:txBody>
      </p:sp>
    </p:spTree>
    <p:extLst>
      <p:ext uri="{BB962C8B-B14F-4D97-AF65-F5344CB8AC3E}">
        <p14:creationId xmlns:p14="http://schemas.microsoft.com/office/powerpoint/2010/main" val="3618876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25D3-3542-5B68-C6C2-C482470C7A4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017B5AE-F972-3CE3-2844-FCFC005C04B6}"/>
              </a:ext>
            </a:extLst>
          </p:cNvPr>
          <p:cNvSpPr txBox="1"/>
          <p:nvPr/>
        </p:nvSpPr>
        <p:spPr>
          <a:xfrm>
            <a:off x="4736124" y="422031"/>
            <a:ext cx="2309896" cy="523220"/>
          </a:xfrm>
          <a:prstGeom prst="rect">
            <a:avLst/>
          </a:prstGeom>
          <a:noFill/>
        </p:spPr>
        <p:txBody>
          <a:bodyPr wrap="square" rtlCol="0">
            <a:spAutoFit/>
          </a:bodyPr>
          <a:lstStyle/>
          <a:p>
            <a:r>
              <a:rPr lang="en-US" sz="2800" b="1" dirty="0">
                <a:latin typeface="+mj-lt"/>
              </a:rPr>
              <a:t>Appendix B</a:t>
            </a:r>
          </a:p>
        </p:txBody>
      </p:sp>
      <p:graphicFrame>
        <p:nvGraphicFramePr>
          <p:cNvPr id="2" name="Table 1">
            <a:extLst>
              <a:ext uri="{FF2B5EF4-FFF2-40B4-BE49-F238E27FC236}">
                <a16:creationId xmlns:a16="http://schemas.microsoft.com/office/drawing/2014/main" id="{96E0DB1F-F842-CC01-D84A-3FE8E3A02B4B}"/>
              </a:ext>
            </a:extLst>
          </p:cNvPr>
          <p:cNvGraphicFramePr>
            <a:graphicFrameLocks noGrp="1"/>
          </p:cNvGraphicFramePr>
          <p:nvPr>
            <p:extLst>
              <p:ext uri="{D42A27DB-BD31-4B8C-83A1-F6EECF244321}">
                <p14:modId xmlns:p14="http://schemas.microsoft.com/office/powerpoint/2010/main" val="711110245"/>
              </p:ext>
            </p:extLst>
          </p:nvPr>
        </p:nvGraphicFramePr>
        <p:xfrm>
          <a:off x="2032000" y="1477107"/>
          <a:ext cx="8128000" cy="5039752"/>
        </p:xfrm>
        <a:graphic>
          <a:graphicData uri="http://schemas.openxmlformats.org/drawingml/2006/table">
            <a:tbl>
              <a:tblPr firstRow="1" bandRow="1">
                <a:tableStyleId>{5C22544A-7EE6-4342-B048-85BDC9FD1C3A}</a:tableStyleId>
              </a:tblPr>
              <a:tblGrid>
                <a:gridCol w="4017108">
                  <a:extLst>
                    <a:ext uri="{9D8B030D-6E8A-4147-A177-3AD203B41FA5}">
                      <a16:colId xmlns:a16="http://schemas.microsoft.com/office/drawing/2014/main" val="3855351001"/>
                    </a:ext>
                  </a:extLst>
                </a:gridCol>
                <a:gridCol w="4110892">
                  <a:extLst>
                    <a:ext uri="{9D8B030D-6E8A-4147-A177-3AD203B41FA5}">
                      <a16:colId xmlns:a16="http://schemas.microsoft.com/office/drawing/2014/main" val="2317381586"/>
                    </a:ext>
                  </a:extLst>
                </a:gridCol>
              </a:tblGrid>
              <a:tr h="619858">
                <a:tc>
                  <a:txBody>
                    <a:bodyPr/>
                    <a:lstStyle/>
                    <a:p>
                      <a:r>
                        <a:rPr lang="en-US" dirty="0"/>
                        <a:t>Metric</a:t>
                      </a:r>
                    </a:p>
                  </a:txBody>
                  <a:tcPr/>
                </a:tc>
                <a:tc>
                  <a:txBody>
                    <a:bodyPr/>
                    <a:lstStyle/>
                    <a:p>
                      <a:r>
                        <a:rPr lang="en-US" dirty="0"/>
                        <a:t>Definition</a:t>
                      </a:r>
                    </a:p>
                  </a:txBody>
                  <a:tcPr/>
                </a:tc>
                <a:extLst>
                  <a:ext uri="{0D108BD9-81ED-4DB2-BD59-A6C34878D82A}">
                    <a16:rowId xmlns:a16="http://schemas.microsoft.com/office/drawing/2014/main" val="3920935848"/>
                  </a:ext>
                </a:extLst>
              </a:tr>
              <a:tr h="619858">
                <a:tc>
                  <a:txBody>
                    <a:bodyPr/>
                    <a:lstStyle/>
                    <a:p>
                      <a:r>
                        <a:rPr lang="en-US" dirty="0"/>
                        <a:t>Total Interactions</a:t>
                      </a:r>
                    </a:p>
                  </a:txBody>
                  <a:tcPr/>
                </a:tc>
                <a:tc>
                  <a:txBody>
                    <a:bodyPr/>
                    <a:lstStyle/>
                    <a:p>
                      <a:r>
                        <a:rPr lang="en-US" dirty="0"/>
                        <a:t>Recorded positive interaction records</a:t>
                      </a:r>
                    </a:p>
                  </a:txBody>
                  <a:tcPr/>
                </a:tc>
                <a:extLst>
                  <a:ext uri="{0D108BD9-81ED-4DB2-BD59-A6C34878D82A}">
                    <a16:rowId xmlns:a16="http://schemas.microsoft.com/office/drawing/2014/main" val="2684185786"/>
                  </a:ext>
                </a:extLst>
              </a:tr>
              <a:tr h="619858">
                <a:tc>
                  <a:txBody>
                    <a:bodyPr/>
                    <a:lstStyle/>
                    <a:p>
                      <a:r>
                        <a:rPr lang="en-US" dirty="0"/>
                        <a:t>Clicks</a:t>
                      </a:r>
                    </a:p>
                  </a:txBody>
                  <a:tcPr/>
                </a:tc>
                <a:tc>
                  <a:txBody>
                    <a:bodyPr/>
                    <a:lstStyle/>
                    <a:p>
                      <a:r>
                        <a:rPr lang="en-US" dirty="0"/>
                        <a:t>Records labeled as clicks</a:t>
                      </a:r>
                    </a:p>
                  </a:txBody>
                  <a:tcPr/>
                </a:tc>
                <a:extLst>
                  <a:ext uri="{0D108BD9-81ED-4DB2-BD59-A6C34878D82A}">
                    <a16:rowId xmlns:a16="http://schemas.microsoft.com/office/drawing/2014/main" val="4093566816"/>
                  </a:ext>
                </a:extLst>
              </a:tr>
              <a:tr h="619858">
                <a:tc>
                  <a:txBody>
                    <a:bodyPr/>
                    <a:lstStyle/>
                    <a:p>
                      <a:r>
                        <a:rPr lang="en-US" dirty="0"/>
                        <a:t>Cart Additions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Records labeled as add-to-cart</a:t>
                      </a:r>
                    </a:p>
                    <a:p>
                      <a:endParaRPr lang="en-US" dirty="0"/>
                    </a:p>
                  </a:txBody>
                  <a:tcPr/>
                </a:tc>
                <a:extLst>
                  <a:ext uri="{0D108BD9-81ED-4DB2-BD59-A6C34878D82A}">
                    <a16:rowId xmlns:a16="http://schemas.microsoft.com/office/drawing/2014/main" val="1611314848"/>
                  </a:ext>
                </a:extLst>
              </a:tr>
              <a:tr h="619858">
                <a:tc>
                  <a:txBody>
                    <a:bodyPr/>
                    <a:lstStyle/>
                    <a:p>
                      <a:r>
                        <a:rPr lang="en-US" dirty="0"/>
                        <a:t>Purchases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Records labeled as purchases</a:t>
                      </a:r>
                    </a:p>
                    <a:p>
                      <a:endParaRPr lang="en-US" dirty="0"/>
                    </a:p>
                  </a:txBody>
                  <a:tcPr/>
                </a:tc>
                <a:extLst>
                  <a:ext uri="{0D108BD9-81ED-4DB2-BD59-A6C34878D82A}">
                    <a16:rowId xmlns:a16="http://schemas.microsoft.com/office/drawing/2014/main" val="3668654833"/>
                  </a:ext>
                </a:extLst>
              </a:tr>
              <a:tr h="619858">
                <a:tc>
                  <a:txBody>
                    <a:bodyPr/>
                    <a:lstStyle/>
                    <a:p>
                      <a:r>
                        <a:rPr lang="en-US" dirty="0"/>
                        <a:t>Purchase Share</a:t>
                      </a:r>
                    </a:p>
                  </a:txBody>
                  <a:tcPr/>
                </a:tc>
                <a:tc>
                  <a:txBody>
                    <a:bodyPr/>
                    <a:lstStyle/>
                    <a:p>
                      <a:r>
                        <a:rPr lang="en-US" dirty="0"/>
                        <a:t>Purchases / Recorded positive interactions</a:t>
                      </a:r>
                    </a:p>
                  </a:txBody>
                  <a:tcPr/>
                </a:tc>
                <a:extLst>
                  <a:ext uri="{0D108BD9-81ED-4DB2-BD59-A6C34878D82A}">
                    <a16:rowId xmlns:a16="http://schemas.microsoft.com/office/drawing/2014/main" val="3677193660"/>
                  </a:ext>
                </a:extLst>
              </a:tr>
              <a:tr h="619858">
                <a:tc>
                  <a:txBody>
                    <a:bodyPr/>
                    <a:lstStyle/>
                    <a:p>
                      <a:r>
                        <a:rPr lang="en-US" dirty="0"/>
                        <a:t>Unique products</a:t>
                      </a:r>
                    </a:p>
                  </a:txBody>
                  <a:tcPr/>
                </a:tc>
                <a:tc>
                  <a:txBody>
                    <a:bodyPr/>
                    <a:lstStyle/>
                    <a:p>
                      <a:r>
                        <a:rPr lang="en-US" dirty="0"/>
                        <a:t>Distinct product IDs</a:t>
                      </a:r>
                    </a:p>
                  </a:txBody>
                  <a:tcPr/>
                </a:tc>
                <a:extLst>
                  <a:ext uri="{0D108BD9-81ED-4DB2-BD59-A6C34878D82A}">
                    <a16:rowId xmlns:a16="http://schemas.microsoft.com/office/drawing/2014/main" val="616777003"/>
                  </a:ext>
                </a:extLst>
              </a:tr>
              <a:tr h="619858">
                <a:tc>
                  <a:txBody>
                    <a:bodyPr/>
                    <a:lstStyle/>
                    <a:p>
                      <a:r>
                        <a:rPr lang="en-US" dirty="0"/>
                        <a:t>Unique Query Records</a:t>
                      </a:r>
                    </a:p>
                  </a:txBody>
                  <a:tcPr/>
                </a:tc>
                <a:tc>
                  <a:txBody>
                    <a:bodyPr/>
                    <a:lstStyle/>
                    <a:p>
                      <a:r>
                        <a:rPr lang="en-US" dirty="0"/>
                        <a:t>Distinct query record IDs</a:t>
                      </a:r>
                    </a:p>
                  </a:txBody>
                  <a:tcPr/>
                </a:tc>
                <a:extLst>
                  <a:ext uri="{0D108BD9-81ED-4DB2-BD59-A6C34878D82A}">
                    <a16:rowId xmlns:a16="http://schemas.microsoft.com/office/drawing/2014/main" val="1441815405"/>
                  </a:ext>
                </a:extLst>
              </a:tr>
            </a:tbl>
          </a:graphicData>
        </a:graphic>
      </p:graphicFrame>
    </p:spTree>
    <p:extLst>
      <p:ext uri="{BB962C8B-B14F-4D97-AF65-F5344CB8AC3E}">
        <p14:creationId xmlns:p14="http://schemas.microsoft.com/office/powerpoint/2010/main" val="2077277113"/>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{D4ABEBBB-4AE6-2A4E-A504-E6F3082F2E2B}TF1f715688-e716-4160-8f29-0fc5bb3f0dea625ba167-bda5d2ed6357</Template>
  <TotalTime>237</TotalTime>
  <Words>2440</Words>
  <Application>Microsoft Macintosh PowerPoint</Application>
  <PresentationFormat>Widescreen</PresentationFormat>
  <Paragraphs>317</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Calibri Light</vt:lpstr>
      <vt:lpstr>Rockwell</vt:lpstr>
      <vt:lpstr>System Font Regular</vt:lpstr>
      <vt:lpstr>Wingdings</vt:lpstr>
      <vt:lpstr>Atlas</vt:lpstr>
      <vt:lpstr>From Search to Sale</vt:lpstr>
      <vt:lpstr>The Business Question</vt:lpstr>
      <vt:lpstr>Dataset Composition</vt:lpstr>
      <vt:lpstr>Understanding Purchase Share</vt:lpstr>
      <vt:lpstr>Where Should Stakeholders Investigate First?</vt:lpstr>
      <vt:lpstr>Product Discovery Deserves Deeper Investigation</vt:lpstr>
      <vt:lpstr>Performance Varies Across Brands and Shops</vt:lpstr>
      <vt:lpstr>Four Primary Diagnostic Areas</vt:lpstr>
      <vt:lpstr>From Insight to Action</vt:lpstr>
      <vt:lpstr>What Would Unlock Deeper Analysis?</vt:lpstr>
      <vt:lpstr>Limitations and Decision Boundaries</vt:lpstr>
      <vt:lpstr>The Analysis Identifies Where JD.com Should Look Next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britney graham</dc:creator>
  <cp:lastModifiedBy>britney graham</cp:lastModifiedBy>
  <cp:revision>2</cp:revision>
  <dcterms:created xsi:type="dcterms:W3CDTF">2026-09-07T21:34:04Z</dcterms:created>
  <dcterms:modified xsi:type="dcterms:W3CDTF">2026-09-08T01:31:59Z</dcterms:modified>
</cp:coreProperties>
</file>